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68" r:id="rId3"/>
    <p:sldId id="266" r:id="rId4"/>
    <p:sldId id="257" r:id="rId5"/>
    <p:sldId id="258" r:id="rId6"/>
    <p:sldId id="260" r:id="rId7"/>
    <p:sldId id="259" r:id="rId8"/>
    <p:sldId id="261" r:id="rId9"/>
    <p:sldId id="262" r:id="rId10"/>
    <p:sldId id="263" r:id="rId11"/>
    <p:sldId id="264" r:id="rId12"/>
    <p:sldId id="265" r:id="rId13"/>
  </p:sldIdLst>
  <p:sldSz cx="14630400" cy="8229600"/>
  <p:notesSz cx="8229600" cy="14630400"/>
  <p:embeddedFontLst>
    <p:embeddedFont>
      <p:font typeface="Fraunces Extra Bold" panose="020B0604020202020204" charset="0"/>
      <p:regular r:id="rId15"/>
    </p:embeddedFont>
    <p:embeddedFont>
      <p:font typeface="Nobile"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698" autoAdjust="0"/>
    <p:restoredTop sz="94610"/>
  </p:normalViewPr>
  <p:slideViewPr>
    <p:cSldViewPr snapToGrid="0" snapToObjects="1">
      <p:cViewPr>
        <p:scale>
          <a:sx n="75" d="100"/>
          <a:sy n="75" d="100"/>
        </p:scale>
        <p:origin x="-139" y="1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2095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0E4C3-F321-6DFF-D0CE-26D5B0E471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A897A5-1D7E-2137-096E-A27250F82D6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D42F6DA-EA8F-1283-29A1-D9E76BB1F2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E4937A-0B0C-606A-0433-940E634A3977}"/>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957163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BB513-4F6C-A5A7-E968-ACB576B679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E8D016-F4B1-3237-F765-9AECB6CA033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9D84E45-8F14-461E-60B6-7212FAE4BB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7A5804-9B74-7C6E-801B-165CE1B2575B}"/>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111593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IN"/>
          </a:p>
        </p:txBody>
      </p:sp>
      <p:sp>
        <p:nvSpPr>
          <p:cNvPr id="3" name="Shape 1"/>
          <p:cNvSpPr/>
          <p:nvPr/>
        </p:nvSpPr>
        <p:spPr>
          <a:xfrm>
            <a:off x="0" y="0"/>
            <a:ext cx="14630400" cy="8229600"/>
          </a:xfrm>
          <a:prstGeom prst="rect">
            <a:avLst/>
          </a:prstGeom>
          <a:solidFill>
            <a:srgbClr val="FAFF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IN"/>
          </a:p>
        </p:txBody>
      </p:sp>
      <p:sp>
        <p:nvSpPr>
          <p:cNvPr id="3" name="Shape 1"/>
          <p:cNvSpPr/>
          <p:nvPr/>
        </p:nvSpPr>
        <p:spPr>
          <a:xfrm>
            <a:off x="0" y="0"/>
            <a:ext cx="14630400" cy="8229600"/>
          </a:xfrm>
          <a:prstGeom prst="rect">
            <a:avLst/>
          </a:prstGeom>
          <a:solidFill>
            <a:srgbClr val="FAFF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IN"/>
          </a:p>
        </p:txBody>
      </p:sp>
      <p:sp>
        <p:nvSpPr>
          <p:cNvPr id="3" name="Shape 1"/>
          <p:cNvSpPr/>
          <p:nvPr/>
        </p:nvSpPr>
        <p:spPr>
          <a:xfrm>
            <a:off x="0" y="0"/>
            <a:ext cx="14630400" cy="8229600"/>
          </a:xfrm>
          <a:prstGeom prst="rect">
            <a:avLst/>
          </a:prstGeom>
          <a:solidFill>
            <a:srgbClr val="FAFF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IN"/>
          </a:p>
        </p:txBody>
      </p:sp>
      <p:sp>
        <p:nvSpPr>
          <p:cNvPr id="3" name="Shape 1"/>
          <p:cNvSpPr/>
          <p:nvPr/>
        </p:nvSpPr>
        <p:spPr>
          <a:xfrm>
            <a:off x="0" y="0"/>
            <a:ext cx="14630400" cy="8229600"/>
          </a:xfrm>
          <a:prstGeom prst="rect">
            <a:avLst/>
          </a:prstGeom>
          <a:solidFill>
            <a:srgbClr val="FAFF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IN"/>
          </a:p>
        </p:txBody>
      </p:sp>
      <p:sp>
        <p:nvSpPr>
          <p:cNvPr id="3" name="Shape 1"/>
          <p:cNvSpPr/>
          <p:nvPr/>
        </p:nvSpPr>
        <p:spPr>
          <a:xfrm>
            <a:off x="0" y="0"/>
            <a:ext cx="14630400" cy="8229600"/>
          </a:xfrm>
          <a:prstGeom prst="rect">
            <a:avLst/>
          </a:prstGeom>
          <a:solidFill>
            <a:srgbClr val="FAFF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IN"/>
          </a:p>
        </p:txBody>
      </p:sp>
      <p:sp>
        <p:nvSpPr>
          <p:cNvPr id="3" name="Shape 1"/>
          <p:cNvSpPr/>
          <p:nvPr/>
        </p:nvSpPr>
        <p:spPr>
          <a:xfrm>
            <a:off x="0" y="0"/>
            <a:ext cx="14630400" cy="8229600"/>
          </a:xfrm>
          <a:prstGeom prst="rect">
            <a:avLst/>
          </a:prstGeom>
          <a:solidFill>
            <a:srgbClr val="FAFF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IN"/>
          </a:p>
        </p:txBody>
      </p:sp>
      <p:sp>
        <p:nvSpPr>
          <p:cNvPr id="3" name="Shape 1"/>
          <p:cNvSpPr/>
          <p:nvPr/>
        </p:nvSpPr>
        <p:spPr>
          <a:xfrm>
            <a:off x="0" y="0"/>
            <a:ext cx="14630400" cy="8229600"/>
          </a:xfrm>
          <a:prstGeom prst="rect">
            <a:avLst/>
          </a:prstGeom>
          <a:solidFill>
            <a:srgbClr val="FAFF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IN"/>
          </a:p>
        </p:txBody>
      </p:sp>
      <p:sp>
        <p:nvSpPr>
          <p:cNvPr id="3" name="Shape 1"/>
          <p:cNvSpPr/>
          <p:nvPr/>
        </p:nvSpPr>
        <p:spPr>
          <a:xfrm>
            <a:off x="0" y="0"/>
            <a:ext cx="14630400" cy="8229600"/>
          </a:xfrm>
          <a:prstGeom prst="rect">
            <a:avLst/>
          </a:prstGeom>
          <a:solidFill>
            <a:srgbClr val="FAFF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IN"/>
          </a:p>
        </p:txBody>
      </p:sp>
      <p:sp>
        <p:nvSpPr>
          <p:cNvPr id="3" name="Shape 1"/>
          <p:cNvSpPr/>
          <p:nvPr/>
        </p:nvSpPr>
        <p:spPr>
          <a:xfrm>
            <a:off x="0" y="0"/>
            <a:ext cx="14630400" cy="8229600"/>
          </a:xfrm>
          <a:prstGeom prst="rect">
            <a:avLst/>
          </a:prstGeom>
          <a:solidFill>
            <a:srgbClr val="FAFF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IN"/>
          </a:p>
        </p:txBody>
      </p:sp>
      <p:sp>
        <p:nvSpPr>
          <p:cNvPr id="3" name="Shape 1"/>
          <p:cNvSpPr/>
          <p:nvPr/>
        </p:nvSpPr>
        <p:spPr>
          <a:xfrm>
            <a:off x="0" y="0"/>
            <a:ext cx="14630400" cy="8229600"/>
          </a:xfrm>
          <a:prstGeom prst="rect">
            <a:avLst/>
          </a:prstGeom>
          <a:solidFill>
            <a:srgbClr val="FAFF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 Id="rId9" Type="http://schemas.openxmlformats.org/officeDocument/2006/relationships/image" Target="../media/image19.sv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r="6272" b="43717"/>
          <a:stretch>
            <a:fillRect/>
          </a:stretch>
        </p:blipFill>
        <p:spPr>
          <a:xfrm>
            <a:off x="108156" y="773285"/>
            <a:ext cx="6364132" cy="3047105"/>
          </a:xfrm>
          <a:prstGeom prst="rect">
            <a:avLst/>
          </a:prstGeom>
        </p:spPr>
      </p:pic>
      <p:sp>
        <p:nvSpPr>
          <p:cNvPr id="3" name="Text 0"/>
          <p:cNvSpPr/>
          <p:nvPr/>
        </p:nvSpPr>
        <p:spPr>
          <a:xfrm>
            <a:off x="6101129" y="1774761"/>
            <a:ext cx="7008138" cy="708779"/>
          </a:xfrm>
          <a:prstGeom prst="rect">
            <a:avLst/>
          </a:prstGeom>
          <a:noFill/>
          <a:ln/>
        </p:spPr>
        <p:txBody>
          <a:bodyPr wrap="none" lIns="0" tIns="0" rIns="0" bIns="0" rtlCol="0" anchor="t"/>
          <a:lstStyle/>
          <a:p>
            <a:pPr marL="0" indent="0" algn="ctr">
              <a:lnSpc>
                <a:spcPts val="5550"/>
              </a:lnSpc>
              <a:buNone/>
            </a:pPr>
            <a:endParaRPr lang="en-US" sz="2000" dirty="0">
              <a:solidFill>
                <a:srgbClr val="3B4540"/>
              </a:solidFill>
              <a:latin typeface="Fraunces Extra Bold" pitchFamily="34" charset="0"/>
              <a:ea typeface="Fraunces Extra Bold" pitchFamily="34" charset="-122"/>
              <a:cs typeface="Fraunces Extra Bold" pitchFamily="34" charset="-120"/>
            </a:endParaRPr>
          </a:p>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Smart Expense Analyzer</a:t>
            </a:r>
            <a:endParaRPr lang="en-US" sz="4450" dirty="0"/>
          </a:p>
        </p:txBody>
      </p:sp>
      <p:sp>
        <p:nvSpPr>
          <p:cNvPr id="4" name="Text 1"/>
          <p:cNvSpPr/>
          <p:nvPr/>
        </p:nvSpPr>
        <p:spPr>
          <a:xfrm>
            <a:off x="742950" y="3381376"/>
            <a:ext cx="12981047" cy="4276724"/>
          </a:xfrm>
          <a:prstGeom prst="rect">
            <a:avLst/>
          </a:prstGeom>
          <a:noFill/>
          <a:ln/>
        </p:spPr>
        <p:txBody>
          <a:bodyPr wrap="non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                                                                                               A beginner-friendly personal finance tracker built with Python</a:t>
            </a:r>
          </a:p>
          <a:p>
            <a:pPr marL="0" indent="0" algn="l">
              <a:lnSpc>
                <a:spcPts val="2850"/>
              </a:lnSpc>
              <a:buNone/>
            </a:pPr>
            <a:endParaRPr lang="en-US" sz="1750" dirty="0">
              <a:solidFill>
                <a:srgbClr val="405449"/>
              </a:solidFill>
              <a:latin typeface="Nobile" pitchFamily="34" charset="0"/>
            </a:endParaRPr>
          </a:p>
          <a:p>
            <a:pPr marL="0" indent="0" algn="l">
              <a:lnSpc>
                <a:spcPts val="2850"/>
              </a:lnSpc>
              <a:buNone/>
            </a:pPr>
            <a:endParaRPr lang="en-US" sz="2800" dirty="0"/>
          </a:p>
          <a:p>
            <a:pPr>
              <a:lnSpc>
                <a:spcPts val="2850"/>
              </a:lnSpc>
            </a:pPr>
            <a:r>
              <a:rPr lang="en-US" sz="2800" dirty="0">
                <a:latin typeface="Times New Roman" panose="02020603050405020304" pitchFamily="18" charset="0"/>
                <a:cs typeface="Times New Roman" panose="02020603050405020304" pitchFamily="18" charset="0"/>
              </a:rPr>
              <a:t>Submitted to</a:t>
            </a:r>
          </a:p>
          <a:p>
            <a:pPr>
              <a:lnSpc>
                <a:spcPts val="2850"/>
              </a:lnSpc>
            </a:pPr>
            <a:r>
              <a:rPr lang="en-US" sz="2800" dirty="0">
                <a:latin typeface="Times New Roman" panose="02020603050405020304" pitchFamily="18" charset="0"/>
                <a:cs typeface="Times New Roman" panose="02020603050405020304" pitchFamily="18" charset="0"/>
              </a:rPr>
              <a:t>International School of Technology and Sciences for Women</a:t>
            </a:r>
          </a:p>
          <a:p>
            <a:pPr>
              <a:lnSpc>
                <a:spcPts val="2850"/>
              </a:lnSpc>
            </a:pPr>
            <a:endParaRPr lang="en-US" sz="2800" dirty="0">
              <a:latin typeface="Times New Roman" panose="02020603050405020304" pitchFamily="18" charset="0"/>
              <a:cs typeface="Times New Roman" panose="02020603050405020304" pitchFamily="18" charset="0"/>
            </a:endParaRPr>
          </a:p>
          <a:p>
            <a:pPr>
              <a:lnSpc>
                <a:spcPts val="2850"/>
              </a:lnSpc>
            </a:pPr>
            <a:r>
              <a:rPr lang="en-US" sz="2800" dirty="0">
                <a:latin typeface="Times New Roman" panose="02020603050405020304" pitchFamily="18" charset="0"/>
                <a:cs typeface="Times New Roman" panose="02020603050405020304" pitchFamily="18" charset="0"/>
              </a:rPr>
              <a:t>Under the guidance of:                                                                    Presented By:</a:t>
            </a:r>
          </a:p>
          <a:p>
            <a:pPr>
              <a:lnSpc>
                <a:spcPts val="2850"/>
              </a:lnSpc>
            </a:pPr>
            <a:r>
              <a:rPr lang="en-US" sz="2800" dirty="0">
                <a:latin typeface="Times New Roman" panose="02020603050405020304" pitchFamily="18" charset="0"/>
                <a:cs typeface="Times New Roman" panose="02020603050405020304" pitchFamily="18" charset="0"/>
              </a:rPr>
              <a:t>Mr. G.Suresh , M. tech                                                                             Kaja Navya</a:t>
            </a:r>
          </a:p>
          <a:p>
            <a:pPr>
              <a:lnSpc>
                <a:spcPts val="2850"/>
              </a:lnSpc>
            </a:pPr>
            <a:r>
              <a:rPr lang="en-US" sz="2800" dirty="0">
                <a:latin typeface="Times New Roman" panose="02020603050405020304" pitchFamily="18" charset="0"/>
                <a:cs typeface="Times New Roman" panose="02020603050405020304" pitchFamily="18" charset="0"/>
              </a:rPr>
              <a:t>Assistant Professor,                                                                                  Kannuru Hykulu</a:t>
            </a:r>
          </a:p>
          <a:p>
            <a:pPr>
              <a:lnSpc>
                <a:spcPts val="2850"/>
              </a:lnSpc>
            </a:pPr>
            <a:r>
              <a:rPr lang="en-US" sz="2800" dirty="0">
                <a:latin typeface="Times New Roman" panose="02020603050405020304" pitchFamily="18" charset="0"/>
                <a:cs typeface="Times New Roman" panose="02020603050405020304" pitchFamily="18" charset="0"/>
              </a:rPr>
              <a:t>Department of Artificial Intelligence and Machine Learning                  Kopiri Aswitha </a:t>
            </a:r>
          </a:p>
          <a:p>
            <a:pPr>
              <a:lnSpc>
                <a:spcPts val="2850"/>
              </a:lnSpc>
            </a:pPr>
            <a:r>
              <a:rPr lang="en-US" sz="2800" dirty="0">
                <a:latin typeface="Times New Roman" panose="02020603050405020304" pitchFamily="18" charset="0"/>
                <a:cs typeface="Times New Roman" panose="02020603050405020304" pitchFamily="18" charset="0"/>
              </a:rPr>
              <a:t>                                                                                                                  Ravada Niharika       </a:t>
            </a:r>
          </a:p>
          <a:p>
            <a:pPr>
              <a:lnSpc>
                <a:spcPts val="2850"/>
              </a:lnSpc>
            </a:pPr>
            <a:r>
              <a:rPr lang="en-US" sz="2800" dirty="0"/>
              <a:t>                                                                                                                              </a:t>
            </a:r>
          </a:p>
          <a:p>
            <a:pPr>
              <a:lnSpc>
                <a:spcPts val="2850"/>
              </a:lnSpc>
            </a:pPr>
            <a:r>
              <a:rPr lang="en-US" sz="2800" dirty="0"/>
              <a:t>                                                                                                                              </a:t>
            </a:r>
          </a:p>
          <a:p>
            <a:pPr>
              <a:lnSpc>
                <a:spcPts val="2850"/>
              </a:lnSpc>
            </a:pPr>
            <a:r>
              <a:rPr lang="en-US" sz="2800" dirty="0"/>
              <a:t>                                                                                                                              </a:t>
            </a:r>
          </a:p>
          <a:p>
            <a:pPr>
              <a:lnSpc>
                <a:spcPts val="2850"/>
              </a:lnSpc>
            </a:pPr>
            <a:r>
              <a:rPr lang="en-US" sz="2800"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3EB2C-FCF8-968B-3FC0-64F817A8C8B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35A8153-4594-A0F7-1AA5-D3E5777BE04C}"/>
              </a:ext>
            </a:extLst>
          </p:cNvPr>
          <p:cNvSpPr/>
          <p:nvPr/>
        </p:nvSpPr>
        <p:spPr>
          <a:xfrm>
            <a:off x="793790" y="990600"/>
            <a:ext cx="5670590" cy="708779"/>
          </a:xfrm>
          <a:prstGeom prst="rect">
            <a:avLst/>
          </a:prstGeom>
          <a:noFill/>
          <a:ln/>
        </p:spPr>
        <p:txBody>
          <a:bodyPr wrap="none" lIns="0" tIns="0" rIns="0" bIns="0" rtlCol="0" anchor="t"/>
          <a:lstStyle/>
          <a:p>
            <a:pPr>
              <a:lnSpc>
                <a:spcPts val="5550"/>
              </a:lnSpc>
            </a:pPr>
            <a:r>
              <a:rPr lang="en-US" sz="4450" b="1" dirty="0">
                <a:solidFill>
                  <a:srgbClr val="3B4540"/>
                </a:solidFill>
                <a:latin typeface="Fraunces Extra Bold" pitchFamily="34" charset="0"/>
              </a:rPr>
              <a:t>Abstract</a:t>
            </a:r>
            <a:endParaRPr lang="en-IN" b="1" dirty="0"/>
          </a:p>
          <a:p>
            <a:pPr marL="0" indent="0" algn="l">
              <a:lnSpc>
                <a:spcPts val="5550"/>
              </a:lnSpc>
              <a:buNone/>
            </a:pPr>
            <a:endParaRPr lang="en-US" sz="4450" dirty="0"/>
          </a:p>
        </p:txBody>
      </p:sp>
      <p:pic>
        <p:nvPicPr>
          <p:cNvPr id="3" name="Image 0">
            <a:extLst>
              <a:ext uri="{FF2B5EF4-FFF2-40B4-BE49-F238E27FC236}">
                <a16:creationId xmlns:a16="http://schemas.microsoft.com/office/drawing/2014/main" id="{6835E7C6-0D65-0361-9DA7-98973B772589}"/>
              </a:ext>
            </a:extLst>
          </p:cNvPr>
          <p:cNvPicPr>
            <a:picLocks noChangeAspect="1"/>
          </p:cNvPicPr>
          <p:nvPr/>
        </p:nvPicPr>
        <p:blipFill>
          <a:blip r:embed="rId3"/>
          <a:srcRect/>
          <a:stretch/>
        </p:blipFill>
        <p:spPr>
          <a:xfrm>
            <a:off x="1051586" y="2502034"/>
            <a:ext cx="4494503" cy="2996335"/>
          </a:xfrm>
          <a:prstGeom prst="rect">
            <a:avLst/>
          </a:prstGeom>
        </p:spPr>
      </p:pic>
      <p:sp>
        <p:nvSpPr>
          <p:cNvPr id="4" name="Text 1">
            <a:extLst>
              <a:ext uri="{FF2B5EF4-FFF2-40B4-BE49-F238E27FC236}">
                <a16:creationId xmlns:a16="http://schemas.microsoft.com/office/drawing/2014/main" id="{E540DB1C-6851-AFE5-2942-D987D0352B76}"/>
              </a:ext>
            </a:extLst>
          </p:cNvPr>
          <p:cNvSpPr/>
          <p:nvPr/>
        </p:nvSpPr>
        <p:spPr>
          <a:xfrm>
            <a:off x="9631442" y="1557695"/>
            <a:ext cx="4205168" cy="708660"/>
          </a:xfrm>
          <a:prstGeom prst="rect">
            <a:avLst/>
          </a:prstGeom>
          <a:noFill/>
          <a:ln/>
        </p:spPr>
        <p:txBody>
          <a:bodyPr wrap="square" lIns="0" tIns="0" rIns="0" bIns="0" rtlCol="0" anchor="t"/>
          <a:lstStyle/>
          <a:p>
            <a:pPr marL="0" indent="0" algn="l">
              <a:lnSpc>
                <a:spcPts val="2750"/>
              </a:lnSpc>
              <a:buNone/>
            </a:pPr>
            <a:endParaRPr lang="en-US" sz="2200" dirty="0"/>
          </a:p>
        </p:txBody>
      </p:sp>
      <p:sp>
        <p:nvSpPr>
          <p:cNvPr id="5" name="Text 2">
            <a:extLst>
              <a:ext uri="{FF2B5EF4-FFF2-40B4-BE49-F238E27FC236}">
                <a16:creationId xmlns:a16="http://schemas.microsoft.com/office/drawing/2014/main" id="{56F26260-4540-3D59-828C-1D03FC508AD8}"/>
              </a:ext>
            </a:extLst>
          </p:cNvPr>
          <p:cNvSpPr/>
          <p:nvPr/>
        </p:nvSpPr>
        <p:spPr>
          <a:xfrm>
            <a:off x="5897880" y="1912025"/>
            <a:ext cx="7938730" cy="4176355"/>
          </a:xfrm>
          <a:prstGeom prst="rect">
            <a:avLst/>
          </a:prstGeom>
          <a:noFill/>
          <a:ln/>
        </p:spPr>
        <p:txBody>
          <a:bodyPr wrap="square" lIns="0" tIns="0" rIns="0" bIns="0" rtlCol="0" anchor="t"/>
          <a:lstStyle/>
          <a:p>
            <a:pPr algn="just"/>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Personal Expense Analyzer</a:t>
            </a:r>
            <a:r>
              <a:rPr lang="en-US" sz="2000" dirty="0">
                <a:latin typeface="Times New Roman" panose="02020603050405020304" pitchFamily="18" charset="0"/>
                <a:cs typeface="Times New Roman" panose="02020603050405020304" pitchFamily="18" charset="0"/>
              </a:rPr>
              <a:t> is a Python desktop application built with </a:t>
            </a:r>
            <a:r>
              <a:rPr lang="en-US" sz="2000" b="1" dirty="0" err="1">
                <a:latin typeface="Times New Roman" panose="02020603050405020304" pitchFamily="18" charset="0"/>
                <a:cs typeface="Times New Roman" panose="02020603050405020304" pitchFamily="18" charset="0"/>
              </a:rPr>
              <a:t>Tkinter</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SQLite3</a:t>
            </a:r>
            <a:r>
              <a:rPr lang="en-US" sz="2000" dirty="0">
                <a:latin typeface="Times New Roman" panose="02020603050405020304" pitchFamily="18" charset="0"/>
                <a:cs typeface="Times New Roman" panose="02020603050405020304" pitchFamily="18" charset="0"/>
              </a:rPr>
              <a:t> for secure, persistent financial tracking. It provides an intuitive interface for users to register, log in, and manage their daily transactions within a centralized, local database.</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system features a </a:t>
            </a:r>
            <a:r>
              <a:rPr lang="en-US" sz="2000" b="1" dirty="0">
                <a:latin typeface="Times New Roman" panose="02020603050405020304" pitchFamily="18" charset="0"/>
                <a:cs typeface="Times New Roman" panose="02020603050405020304" pitchFamily="18" charset="0"/>
              </a:rPr>
              <a:t>Data Visualization</a:t>
            </a:r>
            <a:r>
              <a:rPr lang="en-US" sz="2000" dirty="0">
                <a:latin typeface="Times New Roman" panose="02020603050405020304" pitchFamily="18" charset="0"/>
                <a:cs typeface="Times New Roman" panose="02020603050405020304" pitchFamily="18" charset="0"/>
              </a:rPr>
              <a:t> module that utilizes </a:t>
            </a:r>
            <a:r>
              <a:rPr lang="en-US" sz="2000" b="1" dirty="0">
                <a:latin typeface="Times New Roman" panose="02020603050405020304" pitchFamily="18" charset="0"/>
                <a:cs typeface="Times New Roman" panose="02020603050405020304" pitchFamily="18" charset="0"/>
              </a:rPr>
              <a:t>Matplotlib</a:t>
            </a:r>
            <a:r>
              <a:rPr lang="en-US" sz="2000" dirty="0">
                <a:latin typeface="Times New Roman" panose="02020603050405020304" pitchFamily="18" charset="0"/>
                <a:cs typeface="Times New Roman" panose="02020603050405020304" pitchFamily="18" charset="0"/>
              </a:rPr>
              <a:t> to generate real-time pie and bar charts. These insights help users identify spending patterns and optimize their budgets through automated categorization and searchable history views.</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For enhanced security, the project includes a </a:t>
            </a:r>
            <a:r>
              <a:rPr lang="en-US" sz="2000" b="1" dirty="0">
                <a:latin typeface="Times New Roman" panose="02020603050405020304" pitchFamily="18" charset="0"/>
                <a:cs typeface="Times New Roman" panose="02020603050405020304" pitchFamily="18" charset="0"/>
              </a:rPr>
              <a:t>"Code Red"</a:t>
            </a:r>
            <a:r>
              <a:rPr lang="en-US" sz="2000" dirty="0">
                <a:latin typeface="Times New Roman" panose="02020603050405020304" pitchFamily="18" charset="0"/>
                <a:cs typeface="Times New Roman" panose="02020603050405020304" pitchFamily="18" charset="0"/>
              </a:rPr>
              <a:t> privacy feature that allows users to permanently delete their records. This combination of a relational backend and event-driven frontend creates a practical tool for organized asset management and financial literacy</a:t>
            </a:r>
          </a:p>
          <a:p>
            <a:pPr algn="just"/>
            <a:r>
              <a:rPr lang="en-US" sz="2000" dirty="0">
                <a:latin typeface="Times New Roman" panose="02020603050405020304" pitchFamily="18" charset="0"/>
                <a:cs typeface="Times New Roman" panose="02020603050405020304" pitchFamily="18" charset="0"/>
              </a:rPr>
              <a:t>.</a:t>
            </a:r>
          </a:p>
          <a:p>
            <a:br>
              <a:rPr lang="en-US" sz="2000" dirty="0"/>
            </a:br>
            <a:endParaRPr lang="en-US" sz="2000" dirty="0"/>
          </a:p>
          <a:p>
            <a:br>
              <a:rPr lang="en-US" sz="1600" dirty="0"/>
            </a:br>
            <a:endParaRPr lang="en-US" sz="1750" dirty="0"/>
          </a:p>
        </p:txBody>
      </p:sp>
      <p:sp>
        <p:nvSpPr>
          <p:cNvPr id="6" name="Text 3">
            <a:extLst>
              <a:ext uri="{FF2B5EF4-FFF2-40B4-BE49-F238E27FC236}">
                <a16:creationId xmlns:a16="http://schemas.microsoft.com/office/drawing/2014/main" id="{E293D25C-27B7-C33D-2961-C3145AD35888}"/>
              </a:ext>
            </a:extLst>
          </p:cNvPr>
          <p:cNvSpPr/>
          <p:nvPr/>
        </p:nvSpPr>
        <p:spPr>
          <a:xfrm>
            <a:off x="9638943" y="5583317"/>
            <a:ext cx="4205168" cy="1451610"/>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a:t>
            </a:r>
            <a:endParaRPr lang="en-US" sz="1750" dirty="0"/>
          </a:p>
        </p:txBody>
      </p:sp>
    </p:spTree>
    <p:extLst>
      <p:ext uri="{BB962C8B-B14F-4D97-AF65-F5344CB8AC3E}">
        <p14:creationId xmlns:p14="http://schemas.microsoft.com/office/powerpoint/2010/main" val="1071148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ADA5D-E6D4-F4A2-1E6F-06231D60C2E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41B0335-D559-7837-85FB-C6EA0AF96393}"/>
              </a:ext>
            </a:extLst>
          </p:cNvPr>
          <p:cNvSpPr/>
          <p:nvPr/>
        </p:nvSpPr>
        <p:spPr>
          <a:xfrm>
            <a:off x="793790" y="990600"/>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rPr>
              <a:t>Introduction</a:t>
            </a:r>
            <a:endParaRPr lang="en-US" sz="4450" dirty="0"/>
          </a:p>
        </p:txBody>
      </p:sp>
      <p:pic>
        <p:nvPicPr>
          <p:cNvPr id="3" name="Image 0">
            <a:extLst>
              <a:ext uri="{FF2B5EF4-FFF2-40B4-BE49-F238E27FC236}">
                <a16:creationId xmlns:a16="http://schemas.microsoft.com/office/drawing/2014/main" id="{CFC035B3-6676-BE30-AACF-A31D2459472D}"/>
              </a:ext>
            </a:extLst>
          </p:cNvPr>
          <p:cNvPicPr>
            <a:picLocks noChangeAspect="1"/>
          </p:cNvPicPr>
          <p:nvPr/>
        </p:nvPicPr>
        <p:blipFill>
          <a:blip r:embed="rId3"/>
          <a:srcRect/>
          <a:stretch/>
        </p:blipFill>
        <p:spPr>
          <a:xfrm>
            <a:off x="1132609" y="2161309"/>
            <a:ext cx="4494503" cy="3801936"/>
          </a:xfrm>
          <a:prstGeom prst="rect">
            <a:avLst/>
          </a:prstGeom>
        </p:spPr>
      </p:pic>
      <p:sp>
        <p:nvSpPr>
          <p:cNvPr id="4" name="Text 1">
            <a:extLst>
              <a:ext uri="{FF2B5EF4-FFF2-40B4-BE49-F238E27FC236}">
                <a16:creationId xmlns:a16="http://schemas.microsoft.com/office/drawing/2014/main" id="{C3FDFD40-BCC0-6C9A-86CA-E3A260755E58}"/>
              </a:ext>
            </a:extLst>
          </p:cNvPr>
          <p:cNvSpPr/>
          <p:nvPr/>
        </p:nvSpPr>
        <p:spPr>
          <a:xfrm>
            <a:off x="9631442" y="1557695"/>
            <a:ext cx="4205168" cy="708660"/>
          </a:xfrm>
          <a:prstGeom prst="rect">
            <a:avLst/>
          </a:prstGeom>
          <a:noFill/>
          <a:ln/>
        </p:spPr>
        <p:txBody>
          <a:bodyPr wrap="square" lIns="0" tIns="0" rIns="0" bIns="0" rtlCol="0" anchor="t"/>
          <a:lstStyle/>
          <a:p>
            <a:pPr marL="0" indent="0" algn="l">
              <a:lnSpc>
                <a:spcPts val="2750"/>
              </a:lnSpc>
              <a:buNone/>
            </a:pPr>
            <a:endParaRPr lang="en-US" sz="2200" dirty="0"/>
          </a:p>
        </p:txBody>
      </p:sp>
      <p:sp>
        <p:nvSpPr>
          <p:cNvPr id="5" name="Text 2">
            <a:extLst>
              <a:ext uri="{FF2B5EF4-FFF2-40B4-BE49-F238E27FC236}">
                <a16:creationId xmlns:a16="http://schemas.microsoft.com/office/drawing/2014/main" id="{61F57E2D-F949-B275-48AF-17741A92F264}"/>
              </a:ext>
            </a:extLst>
          </p:cNvPr>
          <p:cNvSpPr/>
          <p:nvPr/>
        </p:nvSpPr>
        <p:spPr>
          <a:xfrm>
            <a:off x="6905627" y="2495550"/>
            <a:ext cx="6938486" cy="3696906"/>
          </a:xfrm>
          <a:prstGeom prst="rect">
            <a:avLst/>
          </a:prstGeom>
          <a:noFill/>
          <a:ln/>
        </p:spPr>
        <p:txBody>
          <a:bodyPr wrap="square" lIns="0" tIns="0" rIns="0" bIns="0" rtlCol="0" anchor="t"/>
          <a:lstStyle/>
          <a:p>
            <a:pPr algn="just"/>
            <a:r>
              <a:rPr lang="en-US" sz="2000" dirty="0">
                <a:latin typeface="Times New Roman" panose="02020603050405020304" pitchFamily="18" charset="0"/>
                <a:cs typeface="Times New Roman" panose="02020603050405020304" pitchFamily="18" charset="0"/>
              </a:rPr>
              <a:t>Financial management is a crucial aspect of everyday life, yet many individuals struggle to monitor and control their expenses effectively. With the increasing use of digital transactions, credit cards, and online payments, keeping track of spending habits has become more complex.</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To address these challenges, the </a:t>
            </a:r>
            <a:r>
              <a:rPr lang="en-US" sz="2000" b="1" dirty="0">
                <a:latin typeface="Times New Roman" panose="02020603050405020304" pitchFamily="18" charset="0"/>
                <a:cs typeface="Times New Roman" panose="02020603050405020304" pitchFamily="18" charset="0"/>
              </a:rPr>
              <a:t>Smart Expense Analyzer</a:t>
            </a:r>
            <a:r>
              <a:rPr lang="en-US" sz="2000" dirty="0">
                <a:latin typeface="Times New Roman" panose="02020603050405020304" pitchFamily="18" charset="0"/>
                <a:cs typeface="Times New Roman" panose="02020603050405020304" pitchFamily="18" charset="0"/>
              </a:rPr>
              <a:t> is designed as a Python‑based application that simplifies expense tracking and provides intelligent insights into financial behavior. By leveraging Python’s powerful libraries for data handling and visualization, the system can automatically categorize expenses, generate clear reports, and highlight spending patterns.</a:t>
            </a:r>
          </a:p>
          <a:p>
            <a:br>
              <a:rPr lang="en-US" sz="2000" dirty="0"/>
            </a:br>
            <a:endParaRPr lang="en-US" sz="2000" dirty="0"/>
          </a:p>
          <a:p>
            <a:br>
              <a:rPr lang="en-US" sz="1600" dirty="0"/>
            </a:br>
            <a:endParaRPr lang="en-US" sz="1750" dirty="0"/>
          </a:p>
        </p:txBody>
      </p:sp>
      <p:sp>
        <p:nvSpPr>
          <p:cNvPr id="6" name="Text 3">
            <a:extLst>
              <a:ext uri="{FF2B5EF4-FFF2-40B4-BE49-F238E27FC236}">
                <a16:creationId xmlns:a16="http://schemas.microsoft.com/office/drawing/2014/main" id="{1866C365-2299-6D89-0833-9A89B69F66D1}"/>
              </a:ext>
            </a:extLst>
          </p:cNvPr>
          <p:cNvSpPr/>
          <p:nvPr/>
        </p:nvSpPr>
        <p:spPr>
          <a:xfrm>
            <a:off x="9638943" y="5583317"/>
            <a:ext cx="4205168" cy="1451610"/>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a:t>
            </a:r>
            <a:endParaRPr lang="en-US" sz="1750" dirty="0"/>
          </a:p>
        </p:txBody>
      </p:sp>
    </p:spTree>
    <p:extLst>
      <p:ext uri="{BB962C8B-B14F-4D97-AF65-F5344CB8AC3E}">
        <p14:creationId xmlns:p14="http://schemas.microsoft.com/office/powerpoint/2010/main" val="2052269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90600"/>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P</a:t>
            </a:r>
            <a:r>
              <a:rPr lang="en-US" sz="4400" b="1" dirty="0">
                <a:solidFill>
                  <a:srgbClr val="3B4540"/>
                </a:solidFill>
                <a:latin typeface="Fraunces Extra Bold" pitchFamily="34" charset="0"/>
                <a:ea typeface="Fraunces Extra Bold" pitchFamily="34" charset="-122"/>
                <a:cs typeface="Fraunces Extra Bold" pitchFamily="34" charset="-120"/>
              </a:rPr>
              <a:t>rob</a:t>
            </a:r>
            <a:r>
              <a:rPr lang="en-US" sz="4450" b="1" dirty="0">
                <a:solidFill>
                  <a:srgbClr val="3B4540"/>
                </a:solidFill>
                <a:latin typeface="Fraunces Extra Bold" pitchFamily="34" charset="0"/>
                <a:ea typeface="Fraunces Extra Bold" pitchFamily="34" charset="-122"/>
                <a:cs typeface="Fraunces Extra Bold" pitchFamily="34" charset="-120"/>
              </a:rPr>
              <a:t>lem Statement</a:t>
            </a:r>
            <a:endParaRPr lang="en-US" sz="4450" dirty="0"/>
          </a:p>
        </p:txBody>
      </p:sp>
      <p:pic>
        <p:nvPicPr>
          <p:cNvPr id="3" name="Image 0"/>
          <p:cNvPicPr>
            <a:picLocks noChangeAspect="1"/>
          </p:cNvPicPr>
          <p:nvPr/>
        </p:nvPicPr>
        <p:blipFill>
          <a:blip r:embed="rId3"/>
          <a:srcRect b="10689"/>
          <a:stretch>
            <a:fillRect/>
          </a:stretch>
        </p:blipFill>
        <p:spPr>
          <a:xfrm>
            <a:off x="1205345" y="2794925"/>
            <a:ext cx="4421767" cy="3158837"/>
          </a:xfrm>
          <a:prstGeom prst="rect">
            <a:avLst/>
          </a:prstGeom>
        </p:spPr>
      </p:pic>
      <p:sp>
        <p:nvSpPr>
          <p:cNvPr id="4" name="Text 1"/>
          <p:cNvSpPr/>
          <p:nvPr/>
        </p:nvSpPr>
        <p:spPr>
          <a:xfrm>
            <a:off x="6765716" y="2076105"/>
            <a:ext cx="6347936" cy="708660"/>
          </a:xfrm>
          <a:prstGeom prst="rect">
            <a:avLst/>
          </a:prstGeom>
          <a:noFill/>
          <a:ln/>
        </p:spPr>
        <p:txBody>
          <a:bodyPr wrap="square" lIns="0" tIns="0" rIns="0" bIns="0" rtlCol="0" anchor="t"/>
          <a:lstStyle/>
          <a:p>
            <a:pPr marL="0" indent="0" algn="l">
              <a:lnSpc>
                <a:spcPts val="2750"/>
              </a:lnSpc>
              <a:buNone/>
            </a:pPr>
            <a:r>
              <a:rPr lang="en-US" sz="2800" b="1" dirty="0">
                <a:solidFill>
                  <a:srgbClr val="3B4540"/>
                </a:solidFill>
                <a:latin typeface="Times New Roman" panose="02020603050405020304" pitchFamily="18" charset="0"/>
                <a:ea typeface="Fraunces Extra Bold" pitchFamily="34" charset="-122"/>
                <a:cs typeface="Times New Roman" panose="02020603050405020304" pitchFamily="18" charset="0"/>
              </a:rPr>
              <a:t>Common Financial Challenges</a:t>
            </a:r>
            <a:endParaRPr lang="en-US" sz="2800" dirty="0">
              <a:latin typeface="Times New Roman" panose="02020603050405020304" pitchFamily="18" charset="0"/>
              <a:cs typeface="Times New Roman" panose="02020603050405020304" pitchFamily="18" charset="0"/>
            </a:endParaRPr>
          </a:p>
        </p:txBody>
      </p:sp>
      <p:sp>
        <p:nvSpPr>
          <p:cNvPr id="5" name="Text 2"/>
          <p:cNvSpPr/>
          <p:nvPr/>
        </p:nvSpPr>
        <p:spPr>
          <a:xfrm>
            <a:off x="6464380" y="2784765"/>
            <a:ext cx="7303531" cy="4378036"/>
          </a:xfrm>
          <a:prstGeom prst="rect">
            <a:avLst/>
          </a:prstGeom>
          <a:noFill/>
          <a:ln/>
        </p:spPr>
        <p:txBody>
          <a:bodyPr wrap="square" lIns="0" tIns="0" rIns="0" bIns="0" rtlCol="0" anchor="t"/>
          <a:lstStyle/>
          <a:p>
            <a:pPr algn="just"/>
            <a:r>
              <a:rPr lang="en-US" sz="2000" dirty="0">
                <a:latin typeface="Times New Roman" panose="02020603050405020304" pitchFamily="18" charset="0"/>
                <a:cs typeface="Times New Roman" panose="02020603050405020304" pitchFamily="18" charset="0"/>
              </a:rPr>
              <a:t>In the modern digital era, individuals often engage in multiple financial transactions daily through cash, cards, UPI, and online wallets. While these methods make payments convenient, they also make expense tracking more complicated. </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Many people struggle to track their daily expenses consistently. Without proper tools, it's difficult to understand spending patterns, identify unnecessary costs, or plan budgets effectively.</a:t>
            </a:r>
          </a:p>
          <a:p>
            <a:pPr algn="just"/>
            <a:endParaRPr lang="en-US" sz="2000" dirty="0">
              <a:latin typeface="Times New Roman" panose="02020603050405020304" pitchFamily="18" charset="0"/>
              <a:cs typeface="Times New Roman" panose="02020603050405020304" pitchFamily="18" charset="0"/>
            </a:endParaRPr>
          </a:p>
        </p:txBody>
      </p:sp>
      <p:sp>
        <p:nvSpPr>
          <p:cNvPr id="6" name="Text 3"/>
          <p:cNvSpPr/>
          <p:nvPr/>
        </p:nvSpPr>
        <p:spPr>
          <a:xfrm>
            <a:off x="9638943" y="5583317"/>
            <a:ext cx="4205168" cy="1451610"/>
          </a:xfrm>
          <a:prstGeom prst="rect">
            <a:avLst/>
          </a:prstGeom>
          <a:noFill/>
          <a:ln/>
        </p:spPr>
        <p:txBody>
          <a:bodyPr wrap="square" lIns="0" tIns="0" rIns="0" bIns="0" rtlCol="0" anchor="t"/>
          <a:lstStyle/>
          <a:p>
            <a:pPr marL="0" indent="0" algn="l">
              <a:lnSpc>
                <a:spcPts val="2850"/>
              </a:lnSpc>
              <a:buNone/>
            </a:pP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009986"/>
            <a:ext cx="5670590" cy="708779"/>
          </a:xfrm>
          <a:prstGeom prst="rect">
            <a:avLst/>
          </a:prstGeom>
          <a:noFill/>
          <a:ln/>
        </p:spPr>
        <p:txBody>
          <a:bodyPr wrap="none" lIns="0" tIns="0" rIns="0" bIns="0" rtlCol="0" anchor="t"/>
          <a:lstStyle/>
          <a:p>
            <a:pPr marL="0" indent="0" algn="l">
              <a:lnSpc>
                <a:spcPts val="5550"/>
              </a:lnSpc>
              <a:buNone/>
            </a:pPr>
            <a:r>
              <a:rPr lang="en-US" sz="4400" b="1" dirty="0">
                <a:solidFill>
                  <a:srgbClr val="3B4540"/>
                </a:solidFill>
                <a:latin typeface="Fraunces Extra Bold" pitchFamily="34" charset="0"/>
                <a:ea typeface="Fraunces Extra Bold" pitchFamily="34" charset="-122"/>
                <a:cs typeface="Fraunces Extra Bold" pitchFamily="34" charset="-120"/>
              </a:rPr>
              <a:t>Objectives</a:t>
            </a:r>
            <a:endParaRPr lang="en-US" sz="4400" dirty="0"/>
          </a:p>
        </p:txBody>
      </p:sp>
      <p:sp>
        <p:nvSpPr>
          <p:cNvPr id="6" name="Text 3"/>
          <p:cNvSpPr/>
          <p:nvPr/>
        </p:nvSpPr>
        <p:spPr>
          <a:xfrm>
            <a:off x="793790" y="2031093"/>
            <a:ext cx="12617386" cy="697121"/>
          </a:xfrm>
          <a:prstGeom prst="rect">
            <a:avLst/>
          </a:prstGeom>
          <a:noFill/>
          <a:ln/>
        </p:spPr>
        <p:txBody>
          <a:bodyPr wrap="none" lIns="0" tIns="0" rIns="0" bIns="0" rtlCol="0" anchor="t"/>
          <a:lstStyle/>
          <a:p>
            <a:pPr>
              <a:lnSpc>
                <a:spcPts val="2750"/>
              </a:lnSpc>
            </a:pPr>
            <a:r>
              <a:rPr lang="en-US" sz="2200" b="1" dirty="0">
                <a:latin typeface="Times New Roman" panose="02020603050405020304" pitchFamily="18" charset="0"/>
                <a:cs typeface="Times New Roman" panose="02020603050405020304" pitchFamily="18" charset="0"/>
              </a:rPr>
              <a:t>To develop a Python‑based application</a:t>
            </a:r>
            <a:r>
              <a:rPr lang="en-US" sz="2200" dirty="0">
                <a:latin typeface="Times New Roman" panose="02020603050405020304" pitchFamily="18" charset="0"/>
                <a:cs typeface="Times New Roman" panose="02020603050405020304" pitchFamily="18" charset="0"/>
              </a:rPr>
              <a:t> that records and manages daily expenses in a structured format</a:t>
            </a:r>
            <a:r>
              <a:rPr lang="en-US" sz="2200" dirty="0"/>
              <a:t>.</a:t>
            </a:r>
          </a:p>
          <a:p>
            <a:pPr marL="0" indent="0" algn="l">
              <a:lnSpc>
                <a:spcPts val="2750"/>
              </a:lnSpc>
              <a:buNone/>
            </a:pPr>
            <a:endParaRPr lang="en-US" sz="2200"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36978" y="2888019"/>
            <a:ext cx="289115" cy="289115"/>
          </a:xfrm>
          <a:prstGeom prst="rect">
            <a:avLst/>
          </a:prstGeom>
        </p:spPr>
      </p:pic>
      <p:sp>
        <p:nvSpPr>
          <p:cNvPr id="12" name="Text 8"/>
          <p:cNvSpPr/>
          <p:nvPr/>
        </p:nvSpPr>
        <p:spPr>
          <a:xfrm>
            <a:off x="4922519" y="3177133"/>
            <a:ext cx="8652803" cy="4200461"/>
          </a:xfrm>
          <a:prstGeom prst="rect">
            <a:avLst/>
          </a:prstGeom>
          <a:noFill/>
          <a:ln/>
        </p:spPr>
        <p:txBody>
          <a:bodyPr wrap="none" lIns="0" tIns="0" rIns="0" bIns="0" rtlCol="0" anchor="t"/>
          <a:lstStyle/>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Organize Finances:</a:t>
            </a:r>
            <a:r>
              <a:rPr lang="en-US" sz="2000" dirty="0">
                <a:latin typeface="Times New Roman" panose="02020603050405020304" pitchFamily="18" charset="0"/>
                <a:cs typeface="Times New Roman" panose="02020603050405020304" pitchFamily="18" charset="0"/>
              </a:rPr>
              <a:t> To replace messy manual notes with a clean digital system </a:t>
            </a:r>
          </a:p>
          <a:p>
            <a:r>
              <a:rPr lang="en-US" sz="2000" dirty="0">
                <a:latin typeface="Times New Roman" panose="02020603050405020304" pitchFamily="18" charset="0"/>
                <a:cs typeface="Times New Roman" panose="02020603050405020304" pitchFamily="18" charset="0"/>
              </a:rPr>
              <a:t>     that records exactly when, where, and how much money you spend.</a:t>
            </a: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Visualize Spending:</a:t>
            </a:r>
            <a:r>
              <a:rPr lang="en-US" sz="2000" dirty="0">
                <a:latin typeface="Times New Roman" panose="02020603050405020304" pitchFamily="18" charset="0"/>
                <a:cs typeface="Times New Roman" panose="02020603050405020304" pitchFamily="18" charset="0"/>
              </a:rPr>
              <a:t> To turn boring lists of numbers into easy-to-read charts </a:t>
            </a:r>
          </a:p>
          <a:p>
            <a:r>
              <a:rPr lang="en-US" sz="2000" dirty="0">
                <a:latin typeface="Times New Roman" panose="02020603050405020304" pitchFamily="18" charset="0"/>
                <a:cs typeface="Times New Roman" panose="02020603050405020304" pitchFamily="18" charset="0"/>
              </a:rPr>
              <a:t>     (like pie and bar graphs) so users can instantly see their biggest spending habits.</a:t>
            </a: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Ensure Privacy:</a:t>
            </a:r>
            <a:r>
              <a:rPr lang="en-US" sz="2000" dirty="0">
                <a:latin typeface="Times New Roman" panose="02020603050405020304" pitchFamily="18" charset="0"/>
                <a:cs typeface="Times New Roman" panose="02020603050405020304" pitchFamily="18" charset="0"/>
              </a:rPr>
              <a:t> To create a secure space where different users can manage their </a:t>
            </a:r>
          </a:p>
          <a:p>
            <a:r>
              <a:rPr lang="en-US" sz="2000" dirty="0">
                <a:latin typeface="Times New Roman" panose="02020603050405020304" pitchFamily="18" charset="0"/>
                <a:cs typeface="Times New Roman" panose="02020603050405020304" pitchFamily="18" charset="0"/>
              </a:rPr>
              <a:t>     own private data and even wipe it clean with one click if they want to start over.</a:t>
            </a:r>
          </a:p>
          <a:p>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pic>
        <p:nvPicPr>
          <p:cNvPr id="20"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2528" y="5223272"/>
            <a:ext cx="306110" cy="306110"/>
          </a:xfrm>
          <a:prstGeom prst="rect">
            <a:avLst/>
          </a:prstGeom>
        </p:spPr>
      </p:pic>
      <p:pic>
        <p:nvPicPr>
          <p:cNvPr id="4" name="Picture 3">
            <a:extLst>
              <a:ext uri="{FF2B5EF4-FFF2-40B4-BE49-F238E27FC236}">
                <a16:creationId xmlns:a16="http://schemas.microsoft.com/office/drawing/2014/main" id="{70DC71F9-017B-B2F6-218D-CF503B3093E3}"/>
              </a:ext>
            </a:extLst>
          </p:cNvPr>
          <p:cNvPicPr>
            <a:picLocks noChangeAspect="1"/>
          </p:cNvPicPr>
          <p:nvPr/>
        </p:nvPicPr>
        <p:blipFill>
          <a:blip r:embed="rId5"/>
          <a:srcRect/>
          <a:stretch/>
        </p:blipFill>
        <p:spPr>
          <a:xfrm>
            <a:off x="1128378" y="3040542"/>
            <a:ext cx="3232397" cy="328573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70798"/>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How It Works</a:t>
            </a:r>
            <a:endParaRPr lang="en-US" sz="4450" dirty="0"/>
          </a:p>
        </p:txBody>
      </p:sp>
      <p:pic>
        <p:nvPicPr>
          <p:cNvPr id="3" name="Image 0" descr="preencoded.png"/>
          <p:cNvPicPr>
            <a:picLocks noChangeAspect="1"/>
          </p:cNvPicPr>
          <p:nvPr/>
        </p:nvPicPr>
        <p:blipFill>
          <a:blip r:embed="rId3"/>
          <a:stretch>
            <a:fillRect/>
          </a:stretch>
        </p:blipFill>
        <p:spPr>
          <a:xfrm>
            <a:off x="856514" y="1964561"/>
            <a:ext cx="13042821" cy="5725477"/>
          </a:xfrm>
          <a:prstGeom prst="rect">
            <a:avLst/>
          </a:prstGeom>
        </p:spPr>
      </p:pic>
      <p:sp>
        <p:nvSpPr>
          <p:cNvPr id="4" name="Text 1"/>
          <p:cNvSpPr/>
          <p:nvPr/>
        </p:nvSpPr>
        <p:spPr>
          <a:xfrm>
            <a:off x="3006323" y="5911731"/>
            <a:ext cx="2286297" cy="353308"/>
          </a:xfrm>
          <a:prstGeom prst="rect">
            <a:avLst/>
          </a:prstGeom>
          <a:noFill/>
          <a:ln/>
        </p:spPr>
        <p:txBody>
          <a:bodyPr wrap="none" lIns="0" tIns="0" rIns="0" bIns="0" rtlCol="0" anchor="t"/>
          <a:lstStyle/>
          <a:p>
            <a:pPr marL="0" indent="0" algn="ctr">
              <a:lnSpc>
                <a:spcPts val="2750"/>
              </a:lnSpc>
              <a:buNone/>
            </a:pPr>
            <a:r>
              <a:rPr lang="en-US" sz="2200" b="1" dirty="0">
                <a:latin typeface="Times New Roman" panose="02020603050405020304" pitchFamily="18" charset="0"/>
                <a:ea typeface="Fraunces Extra Bold" pitchFamily="34" charset="-122"/>
                <a:cs typeface="Times New Roman" panose="02020603050405020304" pitchFamily="18" charset="0"/>
              </a:rPr>
              <a:t>User Input</a:t>
            </a:r>
            <a:endParaRPr lang="en-US" sz="2200" dirty="0">
              <a:latin typeface="Times New Roman" panose="02020603050405020304" pitchFamily="18" charset="0"/>
              <a:cs typeface="Times New Roman" panose="02020603050405020304" pitchFamily="18" charset="0"/>
            </a:endParaRPr>
          </a:p>
        </p:txBody>
      </p:sp>
      <p:sp>
        <p:nvSpPr>
          <p:cNvPr id="5" name="Text 2"/>
          <p:cNvSpPr/>
          <p:nvPr/>
        </p:nvSpPr>
        <p:spPr>
          <a:xfrm>
            <a:off x="3006323" y="6365536"/>
            <a:ext cx="2286297" cy="565293"/>
          </a:xfrm>
          <a:prstGeom prst="rect">
            <a:avLst/>
          </a:prstGeom>
          <a:noFill/>
          <a:ln/>
        </p:spPr>
        <p:txBody>
          <a:bodyPr wrap="square" lIns="0" tIns="0" rIns="0" bIns="0" rtlCol="0" anchor="t"/>
          <a:lstStyle/>
          <a:p>
            <a:pPr marL="0" indent="0" algn="ctr">
              <a:lnSpc>
                <a:spcPts val="2200"/>
              </a:lnSpc>
              <a:buNone/>
            </a:pPr>
            <a:r>
              <a:rPr lang="en-US" sz="2000" dirty="0">
                <a:latin typeface="Times New Roman" panose="02020603050405020304" pitchFamily="18" charset="0"/>
                <a:ea typeface="Nobile" pitchFamily="34" charset="-122"/>
                <a:cs typeface="Times New Roman" panose="02020603050405020304" pitchFamily="18" charset="0"/>
              </a:rPr>
              <a:t>Add expenses via the interface</a:t>
            </a:r>
            <a:endParaRPr lang="en-US" sz="2000" dirty="0">
              <a:latin typeface="Times New Roman" panose="02020603050405020304" pitchFamily="18" charset="0"/>
              <a:cs typeface="Times New Roman" panose="02020603050405020304" pitchFamily="18" charset="0"/>
            </a:endParaRPr>
          </a:p>
        </p:txBody>
      </p:sp>
      <p:sp>
        <p:nvSpPr>
          <p:cNvPr id="6" name="Text 3"/>
          <p:cNvSpPr/>
          <p:nvPr/>
        </p:nvSpPr>
        <p:spPr>
          <a:xfrm>
            <a:off x="9425543" y="5823797"/>
            <a:ext cx="2286297" cy="353309"/>
          </a:xfrm>
          <a:prstGeom prst="rect">
            <a:avLst/>
          </a:prstGeom>
          <a:noFill/>
          <a:ln/>
        </p:spPr>
        <p:txBody>
          <a:bodyPr wrap="none" lIns="0" tIns="0" rIns="0" bIns="0" rtlCol="0" anchor="t"/>
          <a:lstStyle/>
          <a:p>
            <a:pPr marL="0" indent="0" algn="ctr">
              <a:lnSpc>
                <a:spcPts val="2750"/>
              </a:lnSpc>
              <a:buNone/>
            </a:pPr>
            <a:r>
              <a:rPr lang="en-US" sz="2200" b="1" dirty="0">
                <a:latin typeface="Times New Roman" panose="02020603050405020304" pitchFamily="18" charset="0"/>
                <a:ea typeface="Fraunces Extra Bold" pitchFamily="34" charset="-122"/>
                <a:cs typeface="Times New Roman" panose="02020603050405020304" pitchFamily="18" charset="0"/>
              </a:rPr>
              <a:t>Output</a:t>
            </a:r>
            <a:endParaRPr lang="en-US" sz="2200" dirty="0">
              <a:latin typeface="Times New Roman" panose="02020603050405020304" pitchFamily="18" charset="0"/>
              <a:cs typeface="Times New Roman" panose="02020603050405020304" pitchFamily="18" charset="0"/>
            </a:endParaRPr>
          </a:p>
        </p:txBody>
      </p:sp>
      <p:sp>
        <p:nvSpPr>
          <p:cNvPr id="7" name="Text 4"/>
          <p:cNvSpPr/>
          <p:nvPr/>
        </p:nvSpPr>
        <p:spPr>
          <a:xfrm>
            <a:off x="9425543" y="6277601"/>
            <a:ext cx="2286297" cy="565293"/>
          </a:xfrm>
          <a:prstGeom prst="rect">
            <a:avLst/>
          </a:prstGeom>
          <a:noFill/>
          <a:ln/>
        </p:spPr>
        <p:txBody>
          <a:bodyPr wrap="square" lIns="0" tIns="0" rIns="0" bIns="0" rtlCol="0" anchor="t"/>
          <a:lstStyle/>
          <a:p>
            <a:pPr marL="0" indent="0" algn="ctr">
              <a:lnSpc>
                <a:spcPts val="2200"/>
              </a:lnSpc>
              <a:buNone/>
            </a:pPr>
            <a:r>
              <a:rPr lang="en-US" sz="2000" dirty="0">
                <a:latin typeface="Times New Roman" panose="02020603050405020304" pitchFamily="18" charset="0"/>
                <a:ea typeface="Nobile" pitchFamily="34" charset="-122"/>
                <a:cs typeface="Times New Roman" panose="02020603050405020304" pitchFamily="18" charset="0"/>
              </a:rPr>
              <a:t>Show charts and forecasts</a:t>
            </a:r>
            <a:endParaRPr lang="en-US" sz="2000" dirty="0">
              <a:latin typeface="Times New Roman" panose="02020603050405020304" pitchFamily="18" charset="0"/>
              <a:cs typeface="Times New Roman" panose="02020603050405020304" pitchFamily="18" charset="0"/>
            </a:endParaRPr>
          </a:p>
        </p:txBody>
      </p:sp>
      <p:sp>
        <p:nvSpPr>
          <p:cNvPr id="8" name="Text 5"/>
          <p:cNvSpPr/>
          <p:nvPr/>
        </p:nvSpPr>
        <p:spPr>
          <a:xfrm>
            <a:off x="6234776" y="2433607"/>
            <a:ext cx="2286298" cy="706616"/>
          </a:xfrm>
          <a:prstGeom prst="rect">
            <a:avLst/>
          </a:prstGeom>
          <a:noFill/>
          <a:ln/>
        </p:spPr>
        <p:txBody>
          <a:bodyPr wrap="square" lIns="0" tIns="0" rIns="0" bIns="0" rtlCol="0" anchor="t"/>
          <a:lstStyle/>
          <a:p>
            <a:pPr marL="0" indent="0" algn="ctr">
              <a:lnSpc>
                <a:spcPts val="2750"/>
              </a:lnSpc>
              <a:buNone/>
            </a:pPr>
            <a:r>
              <a:rPr lang="en-US" sz="2200" b="1" dirty="0">
                <a:latin typeface="Times New Roman" panose="02020603050405020304" pitchFamily="18" charset="0"/>
                <a:ea typeface="Fraunces Extra Bold" pitchFamily="34" charset="-122"/>
                <a:cs typeface="Times New Roman" panose="02020603050405020304" pitchFamily="18" charset="0"/>
              </a:rPr>
              <a:t>Data Processing</a:t>
            </a:r>
            <a:endParaRPr lang="en-US" sz="2200" dirty="0">
              <a:latin typeface="Times New Roman" panose="02020603050405020304" pitchFamily="18" charset="0"/>
              <a:cs typeface="Times New Roman" panose="02020603050405020304" pitchFamily="18" charset="0"/>
            </a:endParaRPr>
          </a:p>
        </p:txBody>
      </p:sp>
      <p:sp>
        <p:nvSpPr>
          <p:cNvPr id="9" name="Text 6"/>
          <p:cNvSpPr/>
          <p:nvPr/>
        </p:nvSpPr>
        <p:spPr>
          <a:xfrm>
            <a:off x="6234776" y="3240720"/>
            <a:ext cx="2286298" cy="565293"/>
          </a:xfrm>
          <a:prstGeom prst="rect">
            <a:avLst/>
          </a:prstGeom>
          <a:noFill/>
          <a:ln/>
        </p:spPr>
        <p:txBody>
          <a:bodyPr wrap="square" lIns="0" tIns="0" rIns="0" bIns="0" rtlCol="0" anchor="t"/>
          <a:lstStyle/>
          <a:p>
            <a:pPr marL="0" indent="0" algn="ctr">
              <a:lnSpc>
                <a:spcPts val="2200"/>
              </a:lnSpc>
              <a:buNone/>
            </a:pPr>
            <a:r>
              <a:rPr lang="en-US" sz="2000" dirty="0">
                <a:latin typeface="Times New Roman" panose="02020603050405020304" pitchFamily="18" charset="0"/>
                <a:ea typeface="Nobile" pitchFamily="34" charset="-122"/>
                <a:cs typeface="Times New Roman" panose="02020603050405020304" pitchFamily="18" charset="0"/>
              </a:rPr>
              <a:t>Store and analyze patterns</a:t>
            </a:r>
            <a:endParaRPr lang="en-US" sz="20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A36B9129-5110-C861-7A2F-A97818A7E1C0}"/>
              </a:ext>
            </a:extLst>
          </p:cNvPr>
          <p:cNvPicPr>
            <a:picLocks noChangeAspect="1"/>
          </p:cNvPicPr>
          <p:nvPr/>
        </p:nvPicPr>
        <p:blipFill>
          <a:blip r:embed="rId4"/>
          <a:stretch>
            <a:fillRect/>
          </a:stretch>
        </p:blipFill>
        <p:spPr>
          <a:xfrm>
            <a:off x="3556479" y="4175436"/>
            <a:ext cx="1185983" cy="1570117"/>
          </a:xfrm>
          <a:prstGeom prst="rect">
            <a:avLst/>
          </a:prstGeom>
        </p:spPr>
      </p:pic>
      <p:pic>
        <p:nvPicPr>
          <p:cNvPr id="13" name="Picture 12">
            <a:extLst>
              <a:ext uri="{FF2B5EF4-FFF2-40B4-BE49-F238E27FC236}">
                <a16:creationId xmlns:a16="http://schemas.microsoft.com/office/drawing/2014/main" id="{8712E0EC-51F0-CF34-B02C-A2743EA5F286}"/>
              </a:ext>
            </a:extLst>
          </p:cNvPr>
          <p:cNvPicPr>
            <a:picLocks noChangeAspect="1"/>
          </p:cNvPicPr>
          <p:nvPr/>
        </p:nvPicPr>
        <p:blipFill>
          <a:blip r:embed="rId5"/>
          <a:stretch>
            <a:fillRect/>
          </a:stretch>
        </p:blipFill>
        <p:spPr>
          <a:xfrm>
            <a:off x="6756397" y="3987533"/>
            <a:ext cx="1243054" cy="1300205"/>
          </a:xfrm>
          <a:prstGeom prst="rect">
            <a:avLst/>
          </a:prstGeom>
        </p:spPr>
      </p:pic>
      <p:pic>
        <p:nvPicPr>
          <p:cNvPr id="15" name="Picture 14">
            <a:extLst>
              <a:ext uri="{FF2B5EF4-FFF2-40B4-BE49-F238E27FC236}">
                <a16:creationId xmlns:a16="http://schemas.microsoft.com/office/drawing/2014/main" id="{56F2C37B-0BAA-BEB3-4067-9EEFE9BD1E3F}"/>
              </a:ext>
            </a:extLst>
          </p:cNvPr>
          <p:cNvPicPr>
            <a:picLocks noChangeAspect="1"/>
          </p:cNvPicPr>
          <p:nvPr/>
        </p:nvPicPr>
        <p:blipFill>
          <a:blip r:embed="rId6"/>
          <a:stretch>
            <a:fillRect/>
          </a:stretch>
        </p:blipFill>
        <p:spPr>
          <a:xfrm>
            <a:off x="10013387" y="4175437"/>
            <a:ext cx="1358866" cy="15478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12113" y="884277"/>
            <a:ext cx="5086588" cy="635794"/>
          </a:xfrm>
          <a:prstGeom prst="rect">
            <a:avLst/>
          </a:prstGeom>
          <a:noFill/>
          <a:ln/>
        </p:spPr>
        <p:txBody>
          <a:bodyPr wrap="none" lIns="0" tIns="0" rIns="0" bIns="0" rtlCol="0" anchor="t"/>
          <a:lstStyle/>
          <a:p>
            <a:pPr marL="0" indent="0" algn="l">
              <a:lnSpc>
                <a:spcPts val="5000"/>
              </a:lnSpc>
              <a:buNone/>
            </a:pPr>
            <a:r>
              <a:rPr lang="en-US" sz="4000" b="1" dirty="0">
                <a:solidFill>
                  <a:srgbClr val="3B4540"/>
                </a:solidFill>
                <a:latin typeface="Fraunces Extra Bold" pitchFamily="34" charset="0"/>
                <a:ea typeface="Fraunces Extra Bold" pitchFamily="34" charset="-122"/>
                <a:cs typeface="Fraunces Extra Bold" pitchFamily="34" charset="-120"/>
              </a:rPr>
              <a:t>Key Features</a:t>
            </a:r>
            <a:endParaRPr lang="en-US" sz="40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6818" y="1772152"/>
            <a:ext cx="406837" cy="406837"/>
          </a:xfrm>
          <a:prstGeom prst="rect">
            <a:avLst/>
          </a:prstGeom>
        </p:spPr>
      </p:pic>
      <p:sp>
        <p:nvSpPr>
          <p:cNvPr id="4" name="Text 1"/>
          <p:cNvSpPr/>
          <p:nvPr/>
        </p:nvSpPr>
        <p:spPr>
          <a:xfrm>
            <a:off x="712111" y="2301663"/>
            <a:ext cx="2543294" cy="317897"/>
          </a:xfrm>
          <a:prstGeom prst="rect">
            <a:avLst/>
          </a:prstGeom>
          <a:noFill/>
          <a:ln/>
        </p:spPr>
        <p:txBody>
          <a:bodyPr wrap="none" lIns="0" tIns="0" rIns="0" bIns="0" rtlCol="0" anchor="t"/>
          <a:lstStyle/>
          <a:p>
            <a:pPr>
              <a:lnSpc>
                <a:spcPts val="2500"/>
              </a:lnSpc>
            </a:pPr>
            <a:r>
              <a:rPr lang="en-IN" b="1" dirty="0"/>
              <a:t>User Authentication</a:t>
            </a:r>
            <a:endParaRPr lang="en-US" sz="2000" dirty="0">
              <a:latin typeface="Times New Roman" panose="02020603050405020304" pitchFamily="18" charset="0"/>
              <a:cs typeface="Times New Roman" panose="02020603050405020304" pitchFamily="18" charset="0"/>
            </a:endParaRPr>
          </a:p>
        </p:txBody>
      </p:sp>
      <p:sp>
        <p:nvSpPr>
          <p:cNvPr id="5" name="Text 2"/>
          <p:cNvSpPr/>
          <p:nvPr/>
        </p:nvSpPr>
        <p:spPr>
          <a:xfrm>
            <a:off x="712110" y="2693128"/>
            <a:ext cx="6489025" cy="617458"/>
          </a:xfrm>
          <a:prstGeom prst="rect">
            <a:avLst/>
          </a:prstGeom>
          <a:noFill/>
          <a:ln/>
        </p:spPr>
        <p:txBody>
          <a:bodyPr wrap="square" lIns="0" tIns="0" rIns="0" bIns="0" rtlCol="0" anchor="t"/>
          <a:lstStyle/>
          <a:p>
            <a:pPr>
              <a:lnSpc>
                <a:spcPts val="2400"/>
              </a:lnSpc>
            </a:pPr>
            <a:r>
              <a:rPr lang="en-US" dirty="0"/>
              <a:t>Secure login and signup system with salary input.</a:t>
            </a:r>
            <a:endParaRPr lang="en-US" sz="2000" dirty="0">
              <a:latin typeface="Times New Roman" panose="02020603050405020304" pitchFamily="18" charset="0"/>
              <a:cs typeface="Times New Roman" panose="02020603050405020304" pitchFamily="18" charset="0"/>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15200" y="2178989"/>
            <a:ext cx="406837" cy="406837"/>
          </a:xfrm>
          <a:prstGeom prst="rect">
            <a:avLst/>
          </a:prstGeom>
        </p:spPr>
      </p:pic>
      <p:sp>
        <p:nvSpPr>
          <p:cNvPr id="7" name="Text 3"/>
          <p:cNvSpPr/>
          <p:nvPr/>
        </p:nvSpPr>
        <p:spPr>
          <a:xfrm>
            <a:off x="7295771" y="2698174"/>
            <a:ext cx="2543294" cy="317897"/>
          </a:xfrm>
          <a:prstGeom prst="rect">
            <a:avLst/>
          </a:prstGeom>
          <a:noFill/>
          <a:ln/>
        </p:spPr>
        <p:txBody>
          <a:bodyPr wrap="none" lIns="0" tIns="0" rIns="0" bIns="0" rtlCol="0" anchor="t"/>
          <a:lstStyle/>
          <a:p>
            <a:pPr>
              <a:lnSpc>
                <a:spcPts val="2500"/>
              </a:lnSpc>
            </a:pPr>
            <a:r>
              <a:rPr lang="en-IN" b="1" dirty="0"/>
              <a:t>Expense Management</a:t>
            </a:r>
            <a:endParaRPr lang="en-US" sz="2000" dirty="0">
              <a:latin typeface="Times New Roman" panose="02020603050405020304" pitchFamily="18" charset="0"/>
              <a:cs typeface="Times New Roman" panose="02020603050405020304" pitchFamily="18" charset="0"/>
            </a:endParaRPr>
          </a:p>
        </p:txBody>
      </p:sp>
      <p:sp>
        <p:nvSpPr>
          <p:cNvPr id="8" name="Text 4"/>
          <p:cNvSpPr/>
          <p:nvPr/>
        </p:nvSpPr>
        <p:spPr>
          <a:xfrm>
            <a:off x="7295771" y="3119638"/>
            <a:ext cx="6489025" cy="609955"/>
          </a:xfrm>
          <a:prstGeom prst="rect">
            <a:avLst/>
          </a:prstGeom>
          <a:noFill/>
          <a:ln/>
        </p:spPr>
        <p:txBody>
          <a:bodyPr wrap="none" lIns="0" tIns="0" rIns="0" bIns="0" rtlCol="0" anchor="t"/>
          <a:lstStyle/>
          <a:p>
            <a:pPr>
              <a:lnSpc>
                <a:spcPts val="2400"/>
              </a:lnSpc>
            </a:pPr>
            <a:r>
              <a:rPr lang="en-US" dirty="0"/>
              <a:t>Add, view, and delete expenses with details (date, category, amount,</a:t>
            </a:r>
          </a:p>
          <a:p>
            <a:pPr>
              <a:lnSpc>
                <a:spcPts val="2400"/>
              </a:lnSpc>
            </a:pPr>
            <a:r>
              <a:rPr lang="en-US" dirty="0"/>
              <a:t> description).</a:t>
            </a:r>
            <a:endParaRPr lang="en-US" sz="2000" dirty="0">
              <a:latin typeface="Times New Roman" panose="02020603050405020304" pitchFamily="18" charset="0"/>
              <a:cs typeface="Times New Roman" panose="02020603050405020304" pitchFamily="18" charset="0"/>
            </a:endParaRPr>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5990" y="4626375"/>
            <a:ext cx="406837" cy="406837"/>
          </a:xfrm>
          <a:prstGeom prst="rect">
            <a:avLst/>
          </a:prstGeom>
        </p:spPr>
      </p:pic>
      <p:sp>
        <p:nvSpPr>
          <p:cNvPr id="10" name="Text 5"/>
          <p:cNvSpPr/>
          <p:nvPr/>
        </p:nvSpPr>
        <p:spPr>
          <a:xfrm>
            <a:off x="712109" y="5146353"/>
            <a:ext cx="2543294" cy="317897"/>
          </a:xfrm>
          <a:prstGeom prst="rect">
            <a:avLst/>
          </a:prstGeom>
          <a:noFill/>
          <a:ln/>
        </p:spPr>
        <p:txBody>
          <a:bodyPr wrap="none" lIns="0" tIns="0" rIns="0" bIns="0" rtlCol="0" anchor="t"/>
          <a:lstStyle/>
          <a:p>
            <a:pPr>
              <a:lnSpc>
                <a:spcPts val="2500"/>
              </a:lnSpc>
            </a:pPr>
            <a:r>
              <a:rPr lang="en-IN" b="1" dirty="0"/>
              <a:t>Code Red Button</a:t>
            </a:r>
            <a:endParaRPr lang="en-US" sz="2000" dirty="0">
              <a:latin typeface="Times New Roman" panose="02020603050405020304" pitchFamily="18" charset="0"/>
              <a:cs typeface="Times New Roman" panose="02020603050405020304" pitchFamily="18" charset="0"/>
            </a:endParaRPr>
          </a:p>
        </p:txBody>
      </p:sp>
      <p:sp>
        <p:nvSpPr>
          <p:cNvPr id="11" name="Text 6"/>
          <p:cNvSpPr/>
          <p:nvPr/>
        </p:nvSpPr>
        <p:spPr>
          <a:xfrm>
            <a:off x="712113" y="5596384"/>
            <a:ext cx="6489025" cy="308729"/>
          </a:xfrm>
          <a:prstGeom prst="rect">
            <a:avLst/>
          </a:prstGeom>
          <a:noFill/>
          <a:ln/>
        </p:spPr>
        <p:txBody>
          <a:bodyPr wrap="none" lIns="0" tIns="0" rIns="0" bIns="0" rtlCol="0" anchor="t"/>
          <a:lstStyle/>
          <a:p>
            <a:pPr>
              <a:lnSpc>
                <a:spcPts val="2400"/>
              </a:lnSpc>
            </a:pPr>
            <a:r>
              <a:rPr lang="en-US" dirty="0"/>
              <a:t>Permanently delete all expense records for the active user.</a:t>
            </a:r>
            <a:endParaRPr lang="en-US" sz="2000" dirty="0">
              <a:latin typeface="Times New Roman" panose="02020603050405020304" pitchFamily="18" charset="0"/>
              <a:cs typeface="Times New Roman" panose="02020603050405020304" pitchFamily="18" charset="0"/>
            </a:endParaRPr>
          </a:p>
        </p:txBody>
      </p:sp>
      <p:sp>
        <p:nvSpPr>
          <p:cNvPr id="13" name="Text 7"/>
          <p:cNvSpPr/>
          <p:nvPr/>
        </p:nvSpPr>
        <p:spPr>
          <a:xfrm>
            <a:off x="7404557" y="4628313"/>
            <a:ext cx="2543294" cy="317897"/>
          </a:xfrm>
          <a:prstGeom prst="rect">
            <a:avLst/>
          </a:prstGeom>
          <a:noFill/>
          <a:ln/>
        </p:spPr>
        <p:txBody>
          <a:bodyPr wrap="none" lIns="0" tIns="0" rIns="0" bIns="0" rtlCol="0" anchor="t"/>
          <a:lstStyle/>
          <a:p>
            <a:pPr>
              <a:lnSpc>
                <a:spcPts val="2500"/>
              </a:lnSpc>
            </a:pPr>
            <a:r>
              <a:rPr lang="en-IN" b="1" dirty="0"/>
              <a:t>Visualization Tools</a:t>
            </a:r>
            <a:endParaRPr lang="en-US" sz="2000" dirty="0">
              <a:latin typeface="Times New Roman" panose="02020603050405020304" pitchFamily="18" charset="0"/>
              <a:cs typeface="Times New Roman" panose="02020603050405020304" pitchFamily="18" charset="0"/>
            </a:endParaRPr>
          </a:p>
        </p:txBody>
      </p:sp>
      <p:sp>
        <p:nvSpPr>
          <p:cNvPr id="14" name="Text 8"/>
          <p:cNvSpPr/>
          <p:nvPr/>
        </p:nvSpPr>
        <p:spPr>
          <a:xfrm>
            <a:off x="7429266" y="5084316"/>
            <a:ext cx="6489025" cy="308729"/>
          </a:xfrm>
          <a:prstGeom prst="rect">
            <a:avLst/>
          </a:prstGeom>
          <a:noFill/>
          <a:ln/>
        </p:spPr>
        <p:txBody>
          <a:bodyPr wrap="none" lIns="0" tIns="0" rIns="0" bIns="0" rtlCol="0" anchor="t"/>
          <a:lstStyle/>
          <a:p>
            <a:pPr>
              <a:lnSpc>
                <a:spcPts val="2400"/>
              </a:lnSpc>
            </a:pPr>
            <a:r>
              <a:rPr lang="en-US" dirty="0"/>
              <a:t>Pie chart for category distribution and bar chart for totals using Matplotlib.</a:t>
            </a:r>
            <a:endParaRPr lang="en-US" sz="2000" dirty="0">
              <a:latin typeface="Times New Roman" panose="02020603050405020304" pitchFamily="18" charset="0"/>
              <a:cs typeface="Times New Roman" panose="02020603050405020304" pitchFamily="18" charset="0"/>
            </a:endParaRPr>
          </a:p>
        </p:txBody>
      </p:sp>
      <p:pic>
        <p:nvPicPr>
          <p:cNvPr id="15"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29264" y="5803597"/>
            <a:ext cx="406837" cy="406837"/>
          </a:xfrm>
          <a:prstGeom prst="rect">
            <a:avLst/>
          </a:prstGeom>
        </p:spPr>
      </p:pic>
      <p:sp>
        <p:nvSpPr>
          <p:cNvPr id="16" name="Text 9"/>
          <p:cNvSpPr/>
          <p:nvPr/>
        </p:nvSpPr>
        <p:spPr>
          <a:xfrm>
            <a:off x="7429264" y="6350414"/>
            <a:ext cx="2543294" cy="317897"/>
          </a:xfrm>
          <a:prstGeom prst="rect">
            <a:avLst/>
          </a:prstGeom>
          <a:noFill/>
          <a:ln/>
        </p:spPr>
        <p:txBody>
          <a:bodyPr wrap="none" lIns="0" tIns="0" rIns="0" bIns="0" rtlCol="0" anchor="t"/>
          <a:lstStyle/>
          <a:p>
            <a:pPr marL="0" indent="0" algn="l">
              <a:lnSpc>
                <a:spcPts val="2500"/>
              </a:lnSpc>
              <a:buNone/>
            </a:pPr>
            <a:r>
              <a:rPr lang="en-US" sz="2000" b="1" dirty="0">
                <a:latin typeface="Times New Roman" panose="02020603050405020304" pitchFamily="18" charset="0"/>
                <a:ea typeface="Fraunces Extra Bold" pitchFamily="34" charset="-122"/>
                <a:cs typeface="Times New Roman" panose="02020603050405020304" pitchFamily="18" charset="0"/>
              </a:rPr>
              <a:t>Generate Charts</a:t>
            </a:r>
            <a:endParaRPr lang="en-US" sz="2000" dirty="0">
              <a:latin typeface="Times New Roman" panose="02020603050405020304" pitchFamily="18" charset="0"/>
              <a:cs typeface="Times New Roman" panose="02020603050405020304" pitchFamily="18" charset="0"/>
            </a:endParaRPr>
          </a:p>
        </p:txBody>
      </p:sp>
      <p:sp>
        <p:nvSpPr>
          <p:cNvPr id="17" name="Text 10"/>
          <p:cNvSpPr/>
          <p:nvPr/>
        </p:nvSpPr>
        <p:spPr>
          <a:xfrm>
            <a:off x="7404557" y="6743649"/>
            <a:ext cx="6489025" cy="617458"/>
          </a:xfrm>
          <a:prstGeom prst="rect">
            <a:avLst/>
          </a:prstGeom>
          <a:noFill/>
          <a:ln/>
        </p:spPr>
        <p:txBody>
          <a:bodyPr wrap="square" lIns="0" tIns="0" rIns="0" bIns="0" rtlCol="0" anchor="t"/>
          <a:lstStyle/>
          <a:p>
            <a:pPr>
              <a:lnSpc>
                <a:spcPts val="2400"/>
              </a:lnSpc>
            </a:pPr>
            <a:r>
              <a:rPr lang="en-US" dirty="0" err="1"/>
              <a:t>Tkinter</a:t>
            </a:r>
            <a:r>
              <a:rPr lang="en-US" dirty="0"/>
              <a:t>-based interface with multiple pages (Login, Signup, Home, Add Expense, View Expenses, Statistics).</a:t>
            </a:r>
            <a:br>
              <a:rPr lang="en-US" sz="2000" dirty="0"/>
            </a:br>
            <a:endParaRPr lang="en-US" sz="2000" dirty="0">
              <a:latin typeface="Times New Roman" panose="02020603050405020304" pitchFamily="18" charset="0"/>
              <a:cs typeface="Times New Roman" panose="02020603050405020304" pitchFamily="18" charset="0"/>
            </a:endParaRPr>
          </a:p>
        </p:txBody>
      </p:sp>
      <p:pic>
        <p:nvPicPr>
          <p:cNvPr id="18"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5989" y="6210434"/>
            <a:ext cx="406837" cy="406837"/>
          </a:xfrm>
          <a:prstGeom prst="rect">
            <a:avLst/>
          </a:prstGeom>
        </p:spPr>
      </p:pic>
      <p:sp>
        <p:nvSpPr>
          <p:cNvPr id="19" name="Text 11"/>
          <p:cNvSpPr/>
          <p:nvPr/>
        </p:nvSpPr>
        <p:spPr>
          <a:xfrm>
            <a:off x="736818" y="6805588"/>
            <a:ext cx="2543294" cy="317897"/>
          </a:xfrm>
          <a:prstGeom prst="rect">
            <a:avLst/>
          </a:prstGeom>
          <a:noFill/>
          <a:ln/>
        </p:spPr>
        <p:txBody>
          <a:bodyPr wrap="none" lIns="0" tIns="0" rIns="0" bIns="0" rtlCol="0" anchor="t"/>
          <a:lstStyle/>
          <a:p>
            <a:pPr marL="0" indent="0" algn="l">
              <a:lnSpc>
                <a:spcPts val="2500"/>
              </a:lnSpc>
              <a:buNone/>
            </a:pPr>
            <a:r>
              <a:rPr lang="en-US" sz="2000" b="1" dirty="0">
                <a:latin typeface="Times New Roman" panose="02020603050405020304" pitchFamily="18" charset="0"/>
                <a:ea typeface="Fraunces Extra Bold" pitchFamily="34" charset="-122"/>
                <a:cs typeface="Times New Roman" panose="02020603050405020304" pitchFamily="18" charset="0"/>
              </a:rPr>
              <a:t>Expense Prediction</a:t>
            </a:r>
            <a:endParaRPr lang="en-US" sz="2000" dirty="0">
              <a:latin typeface="Times New Roman" panose="02020603050405020304" pitchFamily="18" charset="0"/>
              <a:cs typeface="Times New Roman" panose="02020603050405020304" pitchFamily="18" charset="0"/>
            </a:endParaRPr>
          </a:p>
        </p:txBody>
      </p:sp>
      <p:sp>
        <p:nvSpPr>
          <p:cNvPr id="20" name="Text 12"/>
          <p:cNvSpPr/>
          <p:nvPr/>
        </p:nvSpPr>
        <p:spPr>
          <a:xfrm>
            <a:off x="806746" y="7209017"/>
            <a:ext cx="6489025" cy="308729"/>
          </a:xfrm>
          <a:prstGeom prst="rect">
            <a:avLst/>
          </a:prstGeom>
          <a:noFill/>
          <a:ln/>
        </p:spPr>
        <p:txBody>
          <a:bodyPr wrap="none" lIns="0" tIns="0" rIns="0" bIns="0" rtlCol="0" anchor="t"/>
          <a:lstStyle/>
          <a:p>
            <a:pPr marL="0" indent="0" algn="l">
              <a:lnSpc>
                <a:spcPts val="2400"/>
              </a:lnSpc>
              <a:buNone/>
            </a:pPr>
            <a:r>
              <a:rPr lang="en-US" sz="2000" dirty="0">
                <a:latin typeface="Times New Roman" panose="02020603050405020304" pitchFamily="18" charset="0"/>
                <a:ea typeface="Nobile" pitchFamily="34" charset="-122"/>
                <a:cs typeface="Times New Roman" panose="02020603050405020304" pitchFamily="18" charset="0"/>
              </a:rPr>
              <a:t>Analyze trends to estimate future monthly spending</a:t>
            </a:r>
            <a:endParaRPr lang="en-US" sz="2000" dirty="0">
              <a:latin typeface="Times New Roman" panose="02020603050405020304" pitchFamily="18" charset="0"/>
              <a:cs typeface="Times New Roman" panose="02020603050405020304" pitchFamily="18" charset="0"/>
            </a:endParaRPr>
          </a:p>
        </p:txBody>
      </p:sp>
      <p:pic>
        <p:nvPicPr>
          <p:cNvPr id="22" name="Picture 21">
            <a:extLst>
              <a:ext uri="{FF2B5EF4-FFF2-40B4-BE49-F238E27FC236}">
                <a16:creationId xmlns:a16="http://schemas.microsoft.com/office/drawing/2014/main" id="{B12FA293-EC71-0B25-991B-0A3BDC9265E4}"/>
              </a:ext>
            </a:extLst>
          </p:cNvPr>
          <p:cNvPicPr>
            <a:picLocks noChangeAspect="1"/>
          </p:cNvPicPr>
          <p:nvPr/>
        </p:nvPicPr>
        <p:blipFill>
          <a:blip r:embed="rId8"/>
          <a:stretch>
            <a:fillRect/>
          </a:stretch>
        </p:blipFill>
        <p:spPr>
          <a:xfrm>
            <a:off x="10702636" y="136545"/>
            <a:ext cx="2987527" cy="2274145"/>
          </a:xfrm>
          <a:prstGeom prst="rect">
            <a:avLst/>
          </a:prstGeom>
        </p:spPr>
      </p:pic>
      <p:pic>
        <p:nvPicPr>
          <p:cNvPr id="21" name="Image 3" descr="preencoded.png">
            <a:extLst>
              <a:ext uri="{FF2B5EF4-FFF2-40B4-BE49-F238E27FC236}">
                <a16:creationId xmlns:a16="http://schemas.microsoft.com/office/drawing/2014/main" id="{56A1617B-1D82-7415-CB32-0006E18D7C5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2113" y="3139662"/>
            <a:ext cx="406837" cy="406837"/>
          </a:xfrm>
          <a:prstGeom prst="rect">
            <a:avLst/>
          </a:prstGeom>
        </p:spPr>
      </p:pic>
      <p:sp>
        <p:nvSpPr>
          <p:cNvPr id="23" name="Text 5">
            <a:extLst>
              <a:ext uri="{FF2B5EF4-FFF2-40B4-BE49-F238E27FC236}">
                <a16:creationId xmlns:a16="http://schemas.microsoft.com/office/drawing/2014/main" id="{180F7AB5-6F8E-42E9-A749-78C39E7947F6}"/>
              </a:ext>
            </a:extLst>
          </p:cNvPr>
          <p:cNvSpPr/>
          <p:nvPr/>
        </p:nvSpPr>
        <p:spPr>
          <a:xfrm>
            <a:off x="712113" y="3635517"/>
            <a:ext cx="2543294" cy="317897"/>
          </a:xfrm>
          <a:prstGeom prst="rect">
            <a:avLst/>
          </a:prstGeom>
          <a:noFill/>
          <a:ln/>
        </p:spPr>
        <p:txBody>
          <a:bodyPr wrap="none" lIns="0" tIns="0" rIns="0" bIns="0" rtlCol="0" anchor="t"/>
          <a:lstStyle/>
          <a:p>
            <a:pPr>
              <a:lnSpc>
                <a:spcPts val="2500"/>
              </a:lnSpc>
            </a:pPr>
            <a:r>
              <a:rPr lang="en-IN" b="1" dirty="0"/>
              <a:t>Data Storage</a:t>
            </a:r>
            <a:endParaRPr lang="en-US" sz="2000" dirty="0">
              <a:latin typeface="Times New Roman" panose="02020603050405020304" pitchFamily="18" charset="0"/>
              <a:cs typeface="Times New Roman" panose="02020603050405020304" pitchFamily="18" charset="0"/>
            </a:endParaRPr>
          </a:p>
        </p:txBody>
      </p:sp>
      <p:sp>
        <p:nvSpPr>
          <p:cNvPr id="24" name="Text 6">
            <a:extLst>
              <a:ext uri="{FF2B5EF4-FFF2-40B4-BE49-F238E27FC236}">
                <a16:creationId xmlns:a16="http://schemas.microsoft.com/office/drawing/2014/main" id="{3139C838-1EB2-6EE5-FB76-7328E160B40A}"/>
              </a:ext>
            </a:extLst>
          </p:cNvPr>
          <p:cNvSpPr/>
          <p:nvPr/>
        </p:nvSpPr>
        <p:spPr>
          <a:xfrm>
            <a:off x="712109" y="4054585"/>
            <a:ext cx="6489025" cy="308729"/>
          </a:xfrm>
          <a:prstGeom prst="rect">
            <a:avLst/>
          </a:prstGeom>
          <a:noFill/>
          <a:ln/>
        </p:spPr>
        <p:txBody>
          <a:bodyPr wrap="none" lIns="0" tIns="0" rIns="0" bIns="0" rtlCol="0" anchor="t"/>
          <a:lstStyle/>
          <a:p>
            <a:pPr>
              <a:lnSpc>
                <a:spcPts val="2400"/>
              </a:lnSpc>
            </a:pPr>
            <a:r>
              <a:rPr lang="en-US" dirty="0"/>
              <a:t>Local SQLite database with separate tables for users and expenses</a:t>
            </a:r>
            <a:endParaRPr lang="en-US" sz="2000" dirty="0">
              <a:latin typeface="Times New Roman" panose="02020603050405020304" pitchFamily="18" charset="0"/>
              <a:cs typeface="Times New Roman" panose="02020603050405020304" pitchFamily="18" charset="0"/>
            </a:endParaRPr>
          </a:p>
        </p:txBody>
      </p:sp>
      <p:pic>
        <p:nvPicPr>
          <p:cNvPr id="25" name="Image 4" descr="preencoded.png">
            <a:extLst>
              <a:ext uri="{FF2B5EF4-FFF2-40B4-BE49-F238E27FC236}">
                <a16:creationId xmlns:a16="http://schemas.microsoft.com/office/drawing/2014/main" id="{2AC58D36-E565-5373-BDEB-4B786DC5304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99921" y="4014342"/>
            <a:ext cx="406837" cy="40683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9653286" y="1730605"/>
            <a:ext cx="4838217" cy="3628473"/>
          </a:xfrm>
          <a:prstGeom prst="rect">
            <a:avLst/>
          </a:prstGeom>
        </p:spPr>
      </p:pic>
      <p:sp>
        <p:nvSpPr>
          <p:cNvPr id="3" name="Text 0"/>
          <p:cNvSpPr/>
          <p:nvPr/>
        </p:nvSpPr>
        <p:spPr>
          <a:xfrm>
            <a:off x="689881" y="1021827"/>
            <a:ext cx="5935147" cy="708779"/>
          </a:xfrm>
          <a:prstGeom prst="rect">
            <a:avLst/>
          </a:prstGeom>
          <a:noFill/>
          <a:ln/>
        </p:spPr>
        <p:txBody>
          <a:bodyPr wrap="none" lIns="0" tIns="0" rIns="0" bIns="0" rtlCol="0" anchor="t"/>
          <a:lstStyle/>
          <a:p>
            <a:pPr>
              <a:lnSpc>
                <a:spcPts val="5550"/>
              </a:lnSpc>
            </a:pPr>
            <a:r>
              <a:rPr lang="en-US" sz="4450" b="1" dirty="0">
                <a:solidFill>
                  <a:srgbClr val="3B4540"/>
                </a:solidFill>
                <a:latin typeface="Fraunces Extra Bold" pitchFamily="34" charset="0"/>
              </a:rPr>
              <a:t>Methodology</a:t>
            </a:r>
            <a:endParaRPr lang="en-US" sz="4450" dirty="0"/>
          </a:p>
        </p:txBody>
      </p:sp>
      <p:sp>
        <p:nvSpPr>
          <p:cNvPr id="6" name="Text 2"/>
          <p:cNvSpPr/>
          <p:nvPr/>
        </p:nvSpPr>
        <p:spPr>
          <a:xfrm>
            <a:off x="1194955" y="2847109"/>
            <a:ext cx="8853052" cy="4613564"/>
          </a:xfrm>
          <a:prstGeom prst="rect">
            <a:avLst/>
          </a:prstGeom>
          <a:noFill/>
          <a:ln/>
        </p:spPr>
        <p:txBody>
          <a:bodyPr wrap="square" lIns="0" tIns="0" rIns="0" bIns="0" rtlCol="0" anchor="t"/>
          <a:lstStyle/>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Preprocessing</a:t>
            </a:r>
            <a:r>
              <a:rPr lang="en-US" sz="2000" dirty="0">
                <a:latin typeface="Times New Roman" panose="02020603050405020304" pitchFamily="18" charset="0"/>
                <a:cs typeface="Times New Roman" panose="02020603050405020304" pitchFamily="18" charset="0"/>
              </a:rPr>
              <a:t> – Clean and organize data using Python libraries like </a:t>
            </a:r>
            <a:r>
              <a:rPr lang="en-US" sz="2000" i="1" dirty="0">
                <a:latin typeface="Times New Roman" panose="02020603050405020304" pitchFamily="18" charset="0"/>
                <a:cs typeface="Times New Roman" panose="02020603050405020304" pitchFamily="18" charset="0"/>
              </a:rPr>
              <a:t>pandas</a:t>
            </a:r>
            <a:r>
              <a:rPr lang="en-US" sz="20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Categorization</a:t>
            </a:r>
            <a:r>
              <a:rPr lang="en-US" sz="2000" dirty="0">
                <a:latin typeface="Times New Roman" panose="02020603050405020304" pitchFamily="18" charset="0"/>
                <a:cs typeface="Times New Roman" panose="02020603050405020304" pitchFamily="18" charset="0"/>
              </a:rPr>
              <a:t> – Classify expenses into categories (Food, Travel, Bills, etc.) using                  </a:t>
            </a:r>
          </a:p>
          <a:p>
            <a:r>
              <a:rPr lang="en-US" sz="2000" dirty="0">
                <a:latin typeface="Times New Roman" panose="02020603050405020304" pitchFamily="18" charset="0"/>
                <a:cs typeface="Times New Roman" panose="02020603050405020304" pitchFamily="18" charset="0"/>
              </a:rPr>
              <a:t>                                   rules or ML models.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Visualization</a:t>
            </a:r>
            <a:r>
              <a:rPr lang="en-US" sz="2000" dirty="0">
                <a:latin typeface="Times New Roman" panose="02020603050405020304" pitchFamily="18" charset="0"/>
                <a:cs typeface="Times New Roman" panose="02020603050405020304" pitchFamily="18" charset="0"/>
              </a:rPr>
              <a:t> – Generate charts and reports with </a:t>
            </a:r>
            <a:r>
              <a:rPr lang="en-US" sz="2000" i="1" dirty="0">
                <a:latin typeface="Times New Roman" panose="02020603050405020304" pitchFamily="18" charset="0"/>
                <a:cs typeface="Times New Roman" panose="02020603050405020304" pitchFamily="18" charset="0"/>
              </a:rPr>
              <a:t>matplotlib</a:t>
            </a:r>
            <a:r>
              <a:rPr lang="en-US" sz="2000" dirty="0">
                <a:latin typeface="Times New Roman" panose="02020603050405020304" pitchFamily="18" charset="0"/>
                <a:cs typeface="Times New Roman" panose="02020603050405020304" pitchFamily="18" charset="0"/>
              </a:rPr>
              <a:t> and </a:t>
            </a:r>
            <a:r>
              <a:rPr lang="en-US" sz="2000" i="1" dirty="0">
                <a:latin typeface="Times New Roman" panose="02020603050405020304" pitchFamily="18" charset="0"/>
                <a:cs typeface="Times New Roman" panose="02020603050405020304" pitchFamily="18" charset="0"/>
              </a:rPr>
              <a:t>seaborn</a:t>
            </a:r>
            <a:r>
              <a:rPr lang="en-US" sz="2000" dirty="0">
                <a:latin typeface="Times New Roman" panose="02020603050405020304" pitchFamily="18" charset="0"/>
                <a:cs typeface="Times New Roman" panose="02020603050405020304" pitchFamily="18" charset="0"/>
              </a:rPr>
              <a:t> to show </a:t>
            </a:r>
          </a:p>
          <a:p>
            <a:r>
              <a:rPr lang="en-US" sz="2000" dirty="0">
                <a:latin typeface="Times New Roman" panose="02020603050405020304" pitchFamily="18" charset="0"/>
                <a:cs typeface="Times New Roman" panose="02020603050405020304" pitchFamily="18" charset="0"/>
              </a:rPr>
              <a:t>                                spending patterns.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Budget Monitoring</a:t>
            </a:r>
            <a:r>
              <a:rPr lang="en-US" sz="2000" dirty="0">
                <a:latin typeface="Times New Roman" panose="02020603050405020304" pitchFamily="18" charset="0"/>
                <a:cs typeface="Times New Roman" panose="02020603050405020304" pitchFamily="18" charset="0"/>
              </a:rPr>
              <a:t> – Set limits and trigger alerts when expenses exceed </a:t>
            </a:r>
          </a:p>
          <a:p>
            <a:r>
              <a:rPr lang="en-US" sz="2000" dirty="0">
                <a:latin typeface="Times New Roman" panose="02020603050405020304" pitchFamily="18" charset="0"/>
                <a:cs typeface="Times New Roman" panose="02020603050405020304" pitchFamily="18" charset="0"/>
              </a:rPr>
              <a:t>                                           thresholds.</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Prediction</a:t>
            </a:r>
            <a:r>
              <a:rPr lang="en-US" sz="2000" dirty="0">
                <a:latin typeface="Times New Roman" panose="02020603050405020304" pitchFamily="18" charset="0"/>
                <a:cs typeface="Times New Roman" panose="02020603050405020304" pitchFamily="18" charset="0"/>
              </a:rPr>
              <a:t> – Apply regression models to forecast future expenses.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Testing</a:t>
            </a:r>
            <a:r>
              <a:rPr lang="en-US" sz="2000" dirty="0">
                <a:latin typeface="Times New Roman" panose="02020603050405020304" pitchFamily="18" charset="0"/>
                <a:cs typeface="Times New Roman" panose="02020603050405020304" pitchFamily="18" charset="0"/>
              </a:rPr>
              <a:t> – Validate accuracy of categorization, reporting, and predictions with </a:t>
            </a:r>
          </a:p>
          <a:p>
            <a:r>
              <a:rPr lang="en-US" sz="2000" dirty="0">
                <a:latin typeface="Times New Roman" panose="02020603050405020304" pitchFamily="18" charset="0"/>
                <a:cs typeface="Times New Roman" panose="02020603050405020304" pitchFamily="18" charset="0"/>
              </a:rPr>
              <a:t>                      sample datasets.</a:t>
            </a:r>
          </a:p>
        </p:txBody>
      </p:sp>
      <p:sp>
        <p:nvSpPr>
          <p:cNvPr id="13" name="Text 1">
            <a:extLst>
              <a:ext uri="{FF2B5EF4-FFF2-40B4-BE49-F238E27FC236}">
                <a16:creationId xmlns:a16="http://schemas.microsoft.com/office/drawing/2014/main" id="{CE027D31-8EF8-B291-1685-E8F752699C61}"/>
              </a:ext>
            </a:extLst>
          </p:cNvPr>
          <p:cNvSpPr/>
          <p:nvPr/>
        </p:nvSpPr>
        <p:spPr>
          <a:xfrm>
            <a:off x="793790" y="2716855"/>
            <a:ext cx="6347936" cy="708660"/>
          </a:xfrm>
          <a:prstGeom prst="rect">
            <a:avLst/>
          </a:prstGeom>
          <a:noFill/>
          <a:ln/>
        </p:spPr>
        <p:txBody>
          <a:bodyPr wrap="square" lIns="0" tIns="0" rIns="0" bIns="0" rtlCol="0" anchor="t"/>
          <a:lstStyle/>
          <a:p>
            <a:pPr marL="0" indent="0" algn="l">
              <a:lnSpc>
                <a:spcPts val="2750"/>
              </a:lnSpc>
              <a:buNone/>
            </a:pPr>
            <a:endParaRPr lang="en-US" sz="2800" dirty="0"/>
          </a:p>
        </p:txBody>
      </p:sp>
      <p:sp>
        <p:nvSpPr>
          <p:cNvPr id="14" name="Text 1">
            <a:extLst>
              <a:ext uri="{FF2B5EF4-FFF2-40B4-BE49-F238E27FC236}">
                <a16:creationId xmlns:a16="http://schemas.microsoft.com/office/drawing/2014/main" id="{9BD750B6-385E-69E5-FB16-B6E041ACE7E6}"/>
              </a:ext>
            </a:extLst>
          </p:cNvPr>
          <p:cNvSpPr/>
          <p:nvPr/>
        </p:nvSpPr>
        <p:spPr>
          <a:xfrm>
            <a:off x="793789" y="2008195"/>
            <a:ext cx="8973665" cy="708660"/>
          </a:xfrm>
          <a:prstGeom prst="rect">
            <a:avLst/>
          </a:prstGeom>
          <a:noFill/>
          <a:ln/>
        </p:spPr>
        <p:txBody>
          <a:bodyPr wrap="square" lIns="0" tIns="0" rIns="0" bIns="0" rtlCol="0" anchor="t"/>
          <a:lstStyle/>
          <a:p>
            <a:pPr>
              <a:lnSpc>
                <a:spcPts val="2750"/>
              </a:lnSpc>
            </a:pPr>
            <a:r>
              <a:rPr lang="en-US" sz="2200" b="1" dirty="0">
                <a:latin typeface="Times New Roman" panose="02020603050405020304" pitchFamily="18" charset="0"/>
                <a:cs typeface="Times New Roman" panose="02020603050405020304" pitchFamily="18" charset="0"/>
              </a:rPr>
              <a:t>Data Collection</a:t>
            </a:r>
            <a:r>
              <a:rPr lang="en-US" sz="2200" dirty="0">
                <a:latin typeface="Times New Roman" panose="02020603050405020304" pitchFamily="18" charset="0"/>
                <a:cs typeface="Times New Roman" panose="02020603050405020304" pitchFamily="18" charset="0"/>
              </a:rPr>
              <a:t> – Gather expense records through manual entry or CSV/Excel files.</a:t>
            </a:r>
          </a:p>
          <a:p>
            <a:pPr marL="0" indent="0" algn="l">
              <a:lnSpc>
                <a:spcPts val="2750"/>
              </a:lnSpc>
              <a:buNone/>
            </a:pP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9014" y="914877"/>
            <a:ext cx="6854785" cy="708779"/>
          </a:xfrm>
          <a:prstGeom prst="rect">
            <a:avLst/>
          </a:prstGeom>
          <a:noFill/>
          <a:ln/>
        </p:spPr>
        <p:txBody>
          <a:bodyPr wrap="none" lIns="0" tIns="0" rIns="0" bIns="0" rtlCol="0" anchor="t"/>
          <a:lstStyle/>
          <a:p>
            <a:pPr>
              <a:lnSpc>
                <a:spcPts val="5550"/>
              </a:lnSpc>
            </a:pPr>
            <a:r>
              <a:rPr lang="en-US" sz="4000" b="1" dirty="0">
                <a:solidFill>
                  <a:srgbClr val="3B4540"/>
                </a:solidFill>
                <a:latin typeface="Fraunces Extra Bold" pitchFamily="34" charset="0"/>
                <a:ea typeface="Fraunces Extra Bold" pitchFamily="34" charset="-122"/>
                <a:cs typeface="Fraunces Extra Bold" pitchFamily="34" charset="-120"/>
              </a:rPr>
              <a:t>Tools and Technology Used</a:t>
            </a:r>
            <a:endParaRPr lang="en-US" sz="4000" dirty="0"/>
          </a:p>
        </p:txBody>
      </p:sp>
      <p:sp>
        <p:nvSpPr>
          <p:cNvPr id="4" name="Text 2"/>
          <p:cNvSpPr/>
          <p:nvPr/>
        </p:nvSpPr>
        <p:spPr>
          <a:xfrm>
            <a:off x="857250" y="1961198"/>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6" name="Text 4"/>
          <p:cNvSpPr/>
          <p:nvPr/>
        </p:nvSpPr>
        <p:spPr>
          <a:xfrm>
            <a:off x="857249" y="2152650"/>
            <a:ext cx="12986863" cy="5162073"/>
          </a:xfrm>
          <a:prstGeom prst="rect">
            <a:avLst/>
          </a:prstGeom>
          <a:noFill/>
          <a:ln/>
        </p:spPr>
        <p:txBody>
          <a:bodyPr wrap="square" lIns="0" tIns="0" rIns="0" bIns="0" rtlCol="0" anchor="t"/>
          <a:lstStyle/>
          <a:p>
            <a:r>
              <a:rPr lang="en-IN" sz="2200" b="1" dirty="0">
                <a:latin typeface="Times New Roman" panose="02020603050405020304" pitchFamily="18" charset="0"/>
                <a:cs typeface="Times New Roman" panose="02020603050405020304" pitchFamily="18" charset="0"/>
              </a:rPr>
              <a:t>Programming Language:</a:t>
            </a:r>
            <a:r>
              <a:rPr lang="en-IN" sz="2200" dirty="0">
                <a:latin typeface="Times New Roman" panose="02020603050405020304" pitchFamily="18" charset="0"/>
                <a:cs typeface="Times New Roman" panose="02020603050405020304" pitchFamily="18" charset="0"/>
              </a:rPr>
              <a:t> </a:t>
            </a:r>
            <a:r>
              <a:rPr lang="en-IN" b="1" dirty="0"/>
              <a:t>Python</a:t>
            </a:r>
            <a:r>
              <a:rPr lang="en-IN" dirty="0"/>
              <a:t> → Core language for application logic.</a:t>
            </a:r>
          </a:p>
          <a:p>
            <a:endParaRPr lang="en-IN" b="1" dirty="0"/>
          </a:p>
          <a:p>
            <a:r>
              <a:rPr lang="en-IN" sz="2000" b="1" dirty="0">
                <a:latin typeface="Times New Roman" panose="02020603050405020304" pitchFamily="18" charset="0"/>
                <a:cs typeface="Times New Roman" panose="02020603050405020304" pitchFamily="18" charset="0"/>
              </a:rPr>
              <a:t>GUI Framework</a:t>
            </a:r>
            <a:endParaRPr lang="en-IN"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Tkinter</a:t>
            </a:r>
            <a:r>
              <a:rPr lang="en-IN" sz="2000" dirty="0">
                <a:latin typeface="Times New Roman" panose="02020603050405020304" pitchFamily="18" charset="0"/>
                <a:cs typeface="Times New Roman" panose="02020603050405020304" pitchFamily="18" charset="0"/>
              </a:rPr>
              <a:t> → For building the graphical user interface.</a:t>
            </a:r>
          </a:p>
          <a:p>
            <a:pPr marL="742950" lvl="1"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ttk (Themed Tkinter Widgets)</a:t>
            </a:r>
            <a:r>
              <a:rPr lang="en-IN" sz="2000" dirty="0">
                <a:latin typeface="Times New Roman" panose="02020603050405020304" pitchFamily="18" charset="0"/>
                <a:cs typeface="Times New Roman" panose="02020603050405020304" pitchFamily="18" charset="0"/>
              </a:rPr>
              <a:t> → For styled dropdowns and tables.</a:t>
            </a:r>
          </a:p>
          <a:p>
            <a:pPr marL="742950" lvl="1"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Tkcalendar</a:t>
            </a:r>
            <a:r>
              <a:rPr lang="en-IN" sz="2000" dirty="0">
                <a:latin typeface="Times New Roman" panose="02020603050405020304" pitchFamily="18" charset="0"/>
                <a:cs typeface="Times New Roman" panose="02020603050405020304" pitchFamily="18" charset="0"/>
              </a:rPr>
              <a:t> → For date selection in expense entry.</a:t>
            </a:r>
          </a:p>
          <a:p>
            <a:pPr marL="742950" lvl="1"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Database</a:t>
            </a:r>
            <a:endParaRPr lang="en-IN"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SQLite</a:t>
            </a:r>
            <a:r>
              <a:rPr lang="en-IN" sz="2000" dirty="0">
                <a:latin typeface="Times New Roman" panose="02020603050405020304" pitchFamily="18" charset="0"/>
                <a:cs typeface="Times New Roman" panose="02020603050405020304" pitchFamily="18" charset="0"/>
              </a:rPr>
              <a:t> → Lightweight local database for storing user and expense records</a:t>
            </a:r>
          </a:p>
          <a:p>
            <a:pPr lvl="1"/>
            <a:r>
              <a:rPr lang="en-IN" sz="2000" dirty="0">
                <a:latin typeface="Times New Roman" panose="02020603050405020304" pitchFamily="18" charset="0"/>
                <a:cs typeface="Times New Roman" panose="02020603050405020304" pitchFamily="18" charset="0"/>
              </a:rPr>
              <a:t>.</a:t>
            </a:r>
          </a:p>
          <a:p>
            <a:r>
              <a:rPr lang="en-IN" sz="2000" b="1" dirty="0">
                <a:latin typeface="Times New Roman" panose="02020603050405020304" pitchFamily="18" charset="0"/>
                <a:cs typeface="Times New Roman" panose="02020603050405020304" pitchFamily="18" charset="0"/>
              </a:rPr>
              <a:t>Data Visualization</a:t>
            </a:r>
            <a:r>
              <a:rPr lang="en-IN" sz="20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Matplotlib</a:t>
            </a:r>
            <a:r>
              <a:rPr lang="en-IN" sz="2000" dirty="0">
                <a:latin typeface="Times New Roman" panose="02020603050405020304" pitchFamily="18" charset="0"/>
                <a:cs typeface="Times New Roman" panose="02020603050405020304" pitchFamily="18" charset="0"/>
              </a:rPr>
              <a:t> → For generating pie charts and bar charts.</a:t>
            </a:r>
          </a:p>
          <a:p>
            <a:pPr marL="742950" lvl="1"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Utilities</a:t>
            </a:r>
            <a:endParaRPr lang="en-IN"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Datetime Module</a:t>
            </a:r>
            <a:r>
              <a:rPr lang="en-IN" sz="2000" dirty="0">
                <a:latin typeface="Times New Roman" panose="02020603050405020304" pitchFamily="18" charset="0"/>
                <a:cs typeface="Times New Roman" panose="02020603050405020304" pitchFamily="18" charset="0"/>
              </a:rPr>
              <a:t> → For handling date and time filters in statistics.</a:t>
            </a:r>
          </a:p>
        </p:txBody>
      </p:sp>
      <p:pic>
        <p:nvPicPr>
          <p:cNvPr id="5" name="Picture 4">
            <a:extLst>
              <a:ext uri="{FF2B5EF4-FFF2-40B4-BE49-F238E27FC236}">
                <a16:creationId xmlns:a16="http://schemas.microsoft.com/office/drawing/2014/main" id="{655AF296-18CA-A629-F29C-C046EF9BF521}"/>
              </a:ext>
            </a:extLst>
          </p:cNvPr>
          <p:cNvPicPr>
            <a:picLocks noChangeAspect="1"/>
          </p:cNvPicPr>
          <p:nvPr/>
        </p:nvPicPr>
        <p:blipFill>
          <a:blip r:embed="rId3"/>
          <a:srcRect/>
          <a:stretch/>
        </p:blipFill>
        <p:spPr>
          <a:xfrm>
            <a:off x="9259985" y="1470461"/>
            <a:ext cx="5069234" cy="506923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153537"/>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Advantages</a:t>
            </a:r>
            <a:endParaRPr lang="en-US" sz="4450" dirty="0"/>
          </a:p>
        </p:txBody>
      </p:sp>
      <p:sp>
        <p:nvSpPr>
          <p:cNvPr id="14" name="Text 12"/>
          <p:cNvSpPr/>
          <p:nvPr/>
        </p:nvSpPr>
        <p:spPr>
          <a:xfrm>
            <a:off x="1142523" y="2600325"/>
            <a:ext cx="11116151" cy="4343399"/>
          </a:xfrm>
          <a:prstGeom prst="rect">
            <a:avLst/>
          </a:prstGeom>
          <a:noFill/>
          <a:ln/>
        </p:spPr>
        <p:txBody>
          <a:bodyPr wrap="square" lIns="0" tIns="0" rIns="0" bIns="0" rtlCol="0" anchor="t"/>
          <a:lstStyle/>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Automation</a:t>
            </a:r>
            <a:r>
              <a:rPr lang="en-US" sz="2000" dirty="0">
                <a:latin typeface="Times New Roman" panose="02020603050405020304" pitchFamily="18" charset="0"/>
                <a:cs typeface="Times New Roman" panose="02020603050405020304" pitchFamily="18" charset="0"/>
              </a:rPr>
              <a:t> – Reduces manual effort by automatically categorizing and analyzing expenses.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Accuracy</a:t>
            </a:r>
            <a:r>
              <a:rPr lang="en-US" sz="2000" dirty="0">
                <a:latin typeface="Times New Roman" panose="02020603050405020304" pitchFamily="18" charset="0"/>
                <a:cs typeface="Times New Roman" panose="02020603050405020304" pitchFamily="18" charset="0"/>
              </a:rPr>
              <a:t> – Minimizes human errors compared to traditional bookkeeping or spreadsheets.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Visualization</a:t>
            </a:r>
            <a:r>
              <a:rPr lang="en-US" sz="2000" dirty="0">
                <a:latin typeface="Times New Roman" panose="02020603050405020304" pitchFamily="18" charset="0"/>
                <a:cs typeface="Times New Roman" panose="02020603050405020304" pitchFamily="18" charset="0"/>
              </a:rPr>
              <a:t> – Provides clear charts and reports for easy understanding of spending patterns.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Budget Control</a:t>
            </a:r>
            <a:r>
              <a:rPr lang="en-US" sz="2000" dirty="0">
                <a:latin typeface="Times New Roman" panose="02020603050405020304" pitchFamily="18" charset="0"/>
                <a:cs typeface="Times New Roman" panose="02020603050405020304" pitchFamily="18" charset="0"/>
              </a:rPr>
              <a:t> – Alerts users when expenses exceed predefined limits, promoting financial discipline</a:t>
            </a: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Prediction</a:t>
            </a:r>
            <a:r>
              <a:rPr lang="en-US" sz="2000" dirty="0">
                <a:latin typeface="Times New Roman" panose="02020603050405020304" pitchFamily="18" charset="0"/>
                <a:cs typeface="Times New Roman" panose="02020603050405020304" pitchFamily="18" charset="0"/>
              </a:rPr>
              <a:t> – Forecasts future expenses, helping in proactive financial planning.</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User‑Friendly</a:t>
            </a:r>
            <a:r>
              <a:rPr lang="en-US" sz="2000" dirty="0">
                <a:latin typeface="Times New Roman" panose="02020603050405020304" pitchFamily="18" charset="0"/>
                <a:cs typeface="Times New Roman" panose="02020603050405020304" pitchFamily="18" charset="0"/>
              </a:rPr>
              <a:t> – Simple input methods and intuitive dashboards make it easy to use.</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Scalability</a:t>
            </a:r>
            <a:r>
              <a:rPr lang="en-US" sz="2000" dirty="0">
                <a:latin typeface="Times New Roman" panose="02020603050405020304" pitchFamily="18" charset="0"/>
                <a:cs typeface="Times New Roman" panose="02020603050405020304" pitchFamily="18" charset="0"/>
              </a:rPr>
              <a:t> – Can be extended to integrate APIs, databases, or mobile apps for broader usage.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722828" y="770215"/>
            <a:ext cx="12934178" cy="2100804"/>
          </a:xfrm>
          <a:prstGeom prst="rect">
            <a:avLst/>
          </a:prstGeom>
          <a:noFill/>
          <a:ln/>
        </p:spPr>
        <p:txBody>
          <a:bodyPr wrap="none" lIns="0" tIns="0" rIns="0" bIns="0" rtlCol="0" anchor="t"/>
          <a:lstStyle/>
          <a:p>
            <a:pPr marL="0" indent="0" algn="l">
              <a:lnSpc>
                <a:spcPts val="5050"/>
              </a:lnSpc>
              <a:buNone/>
            </a:pPr>
            <a:r>
              <a:rPr lang="en-US" sz="4050" b="1" dirty="0">
                <a:solidFill>
                  <a:srgbClr val="3B4540"/>
                </a:solidFill>
                <a:latin typeface="Fraunces Extra Bold" pitchFamily="34" charset="0"/>
                <a:ea typeface="Fraunces Extra Bold" pitchFamily="34" charset="-122"/>
                <a:cs typeface="Fraunces Extra Bold" pitchFamily="34" charset="-120"/>
              </a:rPr>
              <a:t>Future Scope</a:t>
            </a:r>
          </a:p>
          <a:p>
            <a:endParaRPr lang="en-US" sz="2200" b="1" dirty="0">
              <a:latin typeface="Times New Roman" panose="02020603050405020304" pitchFamily="18" charset="0"/>
              <a:cs typeface="Times New Roman" panose="02020603050405020304" pitchFamily="18" charset="0"/>
            </a:endParaRPr>
          </a:p>
          <a:p>
            <a:r>
              <a:rPr lang="en-US" sz="2200" b="1" dirty="0">
                <a:latin typeface="Times New Roman" panose="02020603050405020304" pitchFamily="18" charset="0"/>
                <a:cs typeface="Times New Roman" panose="02020603050405020304" pitchFamily="18" charset="0"/>
              </a:rPr>
              <a:t>Bank/API Integration</a:t>
            </a:r>
            <a:r>
              <a:rPr lang="en-US" sz="2200" dirty="0">
                <a:latin typeface="Times New Roman" panose="02020603050405020304" pitchFamily="18" charset="0"/>
                <a:cs typeface="Times New Roman" panose="02020603050405020304" pitchFamily="18" charset="0"/>
              </a:rPr>
              <a:t> – Directly connect with banking systems, UPI apps, or digital wallets for automatic </a:t>
            </a:r>
          </a:p>
          <a:p>
            <a:r>
              <a:rPr lang="en-US" sz="2200" dirty="0">
                <a:latin typeface="Times New Roman" panose="02020603050405020304" pitchFamily="18" charset="0"/>
                <a:cs typeface="Times New Roman" panose="02020603050405020304" pitchFamily="18" charset="0"/>
              </a:rPr>
              <a:t>expense tracking.</a:t>
            </a:r>
          </a:p>
          <a:p>
            <a:pPr marL="0" indent="0" algn="l">
              <a:lnSpc>
                <a:spcPts val="5050"/>
              </a:lnSpc>
              <a:buNone/>
            </a:pPr>
            <a:endParaRPr lang="en-US" sz="4050" b="1" dirty="0">
              <a:solidFill>
                <a:srgbClr val="3B4540"/>
              </a:solidFill>
              <a:latin typeface="Fraunces Extra Bold" pitchFamily="34" charset="0"/>
              <a:ea typeface="Fraunces Extra Bold" pitchFamily="34" charset="-122"/>
              <a:cs typeface="Fraunces Extra Bold" pitchFamily="34" charset="-120"/>
            </a:endParaRPr>
          </a:p>
          <a:p>
            <a:pPr marL="0" indent="0" algn="l">
              <a:lnSpc>
                <a:spcPts val="5050"/>
              </a:lnSpc>
              <a:buNone/>
            </a:pPr>
            <a:endParaRPr lang="en-US" b="1" dirty="0">
              <a:solidFill>
                <a:srgbClr val="3B4540"/>
              </a:solidFill>
              <a:latin typeface="Fraunces Extra Bold" pitchFamily="34" charset="0"/>
              <a:ea typeface="Fraunces Extra Bold" pitchFamily="34" charset="-122"/>
              <a:cs typeface="Fraunces Extra Bold" pitchFamily="34" charset="-120"/>
            </a:endParaRPr>
          </a:p>
          <a:p>
            <a:pPr marL="0" indent="0" algn="l">
              <a:lnSpc>
                <a:spcPts val="5050"/>
              </a:lnSpc>
              <a:buNone/>
            </a:pPr>
            <a:endParaRPr lang="en-US" b="1" dirty="0">
              <a:solidFill>
                <a:srgbClr val="3B4540"/>
              </a:solidFill>
              <a:latin typeface="Fraunces Extra Bold" pitchFamily="34" charset="0"/>
            </a:endParaRPr>
          </a:p>
          <a:p>
            <a:pPr marL="0" indent="0" algn="l">
              <a:lnSpc>
                <a:spcPts val="5050"/>
              </a:lnSpc>
              <a:buNone/>
            </a:pPr>
            <a:endParaRPr lang="en-US" sz="4050" dirty="0"/>
          </a:p>
        </p:txBody>
      </p:sp>
      <p:sp>
        <p:nvSpPr>
          <p:cNvPr id="8" name="Text 4"/>
          <p:cNvSpPr/>
          <p:nvPr/>
        </p:nvSpPr>
        <p:spPr>
          <a:xfrm>
            <a:off x="1114426" y="2517058"/>
            <a:ext cx="12344400" cy="4236167"/>
          </a:xfrm>
          <a:prstGeom prst="rect">
            <a:avLst/>
          </a:prstGeom>
          <a:noFill/>
          <a:ln/>
        </p:spPr>
        <p:txBody>
          <a:bodyPr wrap="none" lIns="0" tIns="0" rIns="0" bIns="0" rtlCol="0" anchor="t"/>
          <a:lstStyle/>
          <a:p>
            <a:endParaRPr lang="en-US" sz="2200" dirty="0">
              <a:latin typeface="Times New Roman" panose="02020603050405020304" pitchFamily="18" charset="0"/>
              <a:cs typeface="Times New Roman" panose="02020603050405020304" pitchFamily="18" charset="0"/>
            </a:endParaRPr>
          </a:p>
          <a:p>
            <a:endParaRPr lang="en-US" dirty="0"/>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Mobile Application</a:t>
            </a:r>
            <a:r>
              <a:rPr lang="en-US" sz="2000" dirty="0">
                <a:latin typeface="Times New Roman" panose="02020603050405020304" pitchFamily="18" charset="0"/>
                <a:cs typeface="Times New Roman" panose="02020603050405020304" pitchFamily="18" charset="0"/>
              </a:rPr>
              <a:t> – Develop Android/iOS apps for real‑time expense monitoring on the go.</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AI‑Driven Insights</a:t>
            </a:r>
            <a:r>
              <a:rPr lang="en-US" sz="2000" dirty="0">
                <a:latin typeface="Times New Roman" panose="02020603050405020304" pitchFamily="18" charset="0"/>
                <a:cs typeface="Times New Roman" panose="02020603050405020304" pitchFamily="18" charset="0"/>
              </a:rPr>
              <a:t> – Use advanced machine learning models to suggest savings strategies and detect unusual </a:t>
            </a:r>
          </a:p>
          <a:p>
            <a:r>
              <a:rPr lang="en-US" sz="2000" dirty="0">
                <a:latin typeface="Times New Roman" panose="02020603050405020304" pitchFamily="18" charset="0"/>
                <a:cs typeface="Times New Roman" panose="02020603050405020304" pitchFamily="18" charset="0"/>
              </a:rPr>
              <a:t>                                         spending behavior.</a:t>
            </a: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Voice &amp; Chat Interfaces</a:t>
            </a:r>
            <a:r>
              <a:rPr lang="en-US" sz="2000" dirty="0">
                <a:latin typeface="Times New Roman" panose="02020603050405020304" pitchFamily="18" charset="0"/>
                <a:cs typeface="Times New Roman" panose="02020603050405020304" pitchFamily="18" charset="0"/>
              </a:rPr>
              <a:t> – Enable expense entry and queries through voice assistants or chatbots.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Multi‑User Support</a:t>
            </a:r>
            <a:r>
              <a:rPr lang="en-US" sz="2000" dirty="0">
                <a:latin typeface="Times New Roman" panose="02020603050405020304" pitchFamily="18" charset="0"/>
                <a:cs typeface="Times New Roman" panose="02020603050405020304" pitchFamily="18" charset="0"/>
              </a:rPr>
              <a:t> – Extend functionality for families or small businesses to manage shared expenses.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Data Security Enhancements</a:t>
            </a:r>
            <a:r>
              <a:rPr lang="en-US" sz="2000" dirty="0">
                <a:latin typeface="Times New Roman" panose="02020603050405020304" pitchFamily="18" charset="0"/>
                <a:cs typeface="Times New Roman" panose="02020603050405020304" pitchFamily="18" charset="0"/>
              </a:rPr>
              <a:t> – Implement encryption and authentication to protect sensitive financial information</a:t>
            </a:r>
          </a:p>
          <a:p>
            <a:pPr marL="0" indent="0" algn="l">
              <a:lnSpc>
                <a:spcPts val="2450"/>
              </a:lnSpc>
              <a:buNone/>
            </a:pP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9735" y="1034891"/>
            <a:ext cx="5284113" cy="660440"/>
          </a:xfrm>
          <a:prstGeom prst="rect">
            <a:avLst/>
          </a:prstGeom>
          <a:noFill/>
          <a:ln/>
        </p:spPr>
        <p:txBody>
          <a:bodyPr wrap="none" lIns="0" tIns="0" rIns="0" bIns="0" rtlCol="0" anchor="t"/>
          <a:lstStyle/>
          <a:p>
            <a:pPr marL="0" indent="0" algn="l">
              <a:lnSpc>
                <a:spcPts val="5200"/>
              </a:lnSpc>
              <a:buNone/>
            </a:pPr>
            <a:r>
              <a:rPr lang="en-US" sz="4150" b="1" dirty="0">
                <a:solidFill>
                  <a:srgbClr val="3B4540"/>
                </a:solidFill>
                <a:latin typeface="Fraunces Extra Bold" pitchFamily="34" charset="0"/>
                <a:ea typeface="Fraunces Extra Bold" pitchFamily="34" charset="-122"/>
                <a:cs typeface="Fraunces Extra Bold" pitchFamily="34" charset="-120"/>
              </a:rPr>
              <a:t>Conclusion</a:t>
            </a:r>
            <a:endParaRPr lang="en-US" sz="4150" dirty="0"/>
          </a:p>
        </p:txBody>
      </p:sp>
      <p:pic>
        <p:nvPicPr>
          <p:cNvPr id="3" name="Image 0"/>
          <p:cNvPicPr>
            <a:picLocks noChangeAspect="1"/>
          </p:cNvPicPr>
          <p:nvPr/>
        </p:nvPicPr>
        <p:blipFill>
          <a:blip r:embed="rId3"/>
          <a:srcRect/>
          <a:stretch/>
        </p:blipFill>
        <p:spPr>
          <a:xfrm>
            <a:off x="956893" y="2825146"/>
            <a:ext cx="2642833" cy="2834874"/>
          </a:xfrm>
          <a:prstGeom prst="rect">
            <a:avLst/>
          </a:prstGeom>
        </p:spPr>
      </p:pic>
      <p:sp>
        <p:nvSpPr>
          <p:cNvPr id="7" name="Text 2">
            <a:extLst>
              <a:ext uri="{FF2B5EF4-FFF2-40B4-BE49-F238E27FC236}">
                <a16:creationId xmlns:a16="http://schemas.microsoft.com/office/drawing/2014/main" id="{C08F2B7A-0C06-B197-706B-8F0093EC3520}"/>
              </a:ext>
            </a:extLst>
          </p:cNvPr>
          <p:cNvSpPr/>
          <p:nvPr/>
        </p:nvSpPr>
        <p:spPr>
          <a:xfrm>
            <a:off x="4200524" y="2190750"/>
            <a:ext cx="8848725" cy="4152900"/>
          </a:xfrm>
          <a:prstGeom prst="rect">
            <a:avLst/>
          </a:prstGeom>
          <a:noFill/>
          <a:ln/>
        </p:spPr>
        <p:txBody>
          <a:bodyPr wrap="square" lIns="0" tIns="0" rIns="0" bIns="0" rtlCol="0" anchor="t"/>
          <a:lstStyle/>
          <a:p>
            <a:pPr algn="just"/>
            <a:r>
              <a:rPr lang="en-US" sz="2000" dirty="0">
                <a:latin typeface="Times New Roman" panose="02020603050405020304" pitchFamily="18" charset="0"/>
                <a:cs typeface="Times New Roman" panose="02020603050405020304" pitchFamily="18" charset="0"/>
              </a:rPr>
              <a:t>The Smart Expense Analyzer using Python provides an efficient and intelligent solution for managing personal finances. By automating expense categorization, generating clear visualizations, and offering budget alerts, the system helps users gain better control over their spending habits. With predictive analysis, it goes beyond simple tracking to provide valuable insights into future expenses, encouraging financial discipline and savings.</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This project demonstrates how Python’s data handling and visualization capabilities can be applied to real‑life problems, transforming raw financial data into meaningful information. While the current version has limitations, it lays a strong foundation for future enhancements such as mobile integration, cloud storage, and AI‑driven insights. Ultimately, the Smart Expense Analyzer empowers individuals to make informed financial decisions and achieve long‑term financial stability </a:t>
            </a:r>
          </a:p>
          <a:p>
            <a:br>
              <a:rPr lang="en-US" sz="2000" dirty="0"/>
            </a:br>
            <a:endParaRPr lang="en-US" sz="2000" dirty="0"/>
          </a:p>
          <a:p>
            <a:br>
              <a:rPr lang="en-US" sz="1600" dirty="0"/>
            </a:b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371</TotalTime>
  <Words>1171</Words>
  <Application>Microsoft Office PowerPoint</Application>
  <PresentationFormat>Custom</PresentationFormat>
  <Paragraphs>155</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Fraunces Extra Bold</vt:lpstr>
      <vt:lpstr>Times New Roman</vt:lpstr>
      <vt:lpstr>Nobile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Kannuru Hykulu</cp:lastModifiedBy>
  <cp:revision>11</cp:revision>
  <dcterms:created xsi:type="dcterms:W3CDTF">2026-03-06T11:05:59Z</dcterms:created>
  <dcterms:modified xsi:type="dcterms:W3CDTF">2026-04-10T12:37:04Z</dcterms:modified>
</cp:coreProperties>
</file>